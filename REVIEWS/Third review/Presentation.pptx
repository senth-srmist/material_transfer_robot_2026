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1" r:id="rId4"/>
    <p:sldId id="270" r:id="rId5"/>
    <p:sldId id="271" r:id="rId6"/>
    <p:sldId id="269" r:id="rId7"/>
    <p:sldId id="267" r:id="rId8"/>
    <p:sldId id="266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67" y="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54293-DBDE-4209-BE26-8F026CF66EC8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95130F-383D-4788-8415-9ACE02617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4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396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109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615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41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5130F-383D-4788-8415-9ACE0261788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72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71884-314F-4698-A6A4-7777078B58E8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2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64599-7A09-4DF4-8185-369618D9B1A1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66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3EFF-063C-433A-A95C-D4F8AB218678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4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E5110-F2EB-4D5A-AE71-84A50C434545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753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73FF5-8934-411C-ABF9-992F9BFBF65C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6E4A-051A-4C87-8C77-776A3CF6C09E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06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DEF9-1AB2-4F69-AC2E-9DE3B64362B0}" type="datetime1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054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E715F-9F33-4C3A-B197-07294F5A96D9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69547-9AF0-4E97-955B-3A6CCAC1F207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92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6E89-195B-405E-B5DE-A56A83CC41D5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485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F8AA4-430F-465D-8EFA-496146675292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518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1EB81-F4DE-4A1C-8131-3CD6CFD7BD60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18MHP109L/111L - Major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7AEF-AC6C-4214-B74D-B2FEE02C89E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131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57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3FE3E-3F97-47FB-ADD0-3A54B493EED2}" type="datetime1">
              <a:rPr lang="en-US" smtClean="0">
                <a:latin typeface="Arial Black" panose="020B0A04020102020204" pitchFamily="34" charset="0"/>
              </a:rPr>
              <a:t>4/9/2026</a:t>
            </a:fld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21MHP401L/402L - Major Project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00953" y="1062752"/>
            <a:ext cx="7032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Floor Level Material Transfer Robot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953" y="2410998"/>
            <a:ext cx="70328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Members</a:t>
            </a:r>
          </a:p>
          <a:p>
            <a:pPr algn="ctr"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Lalithesh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K (RA2211038010007)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Tejas M K (RA2211038010012)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Preetham M (RA2211038010046)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953" y="4737336"/>
            <a:ext cx="7032812" cy="1133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>
              <a:lnSpc>
                <a:spcPct val="150000"/>
              </a:lnSpc>
            </a:pPr>
            <a:r>
              <a:rPr lang="en-US" sz="24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R. Senthilnathan M.E., Ph.D.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758D8E-0359-7256-8408-8D477CFAF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3AC0DA-A6FB-E83E-FA60-80DC659DA6AE}"/>
              </a:ext>
            </a:extLst>
          </p:cNvPr>
          <p:cNvSpPr txBox="1"/>
          <p:nvPr/>
        </p:nvSpPr>
        <p:spPr>
          <a:xfrm>
            <a:off x="2886622" y="1798430"/>
            <a:ext cx="3061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Batch No. </a:t>
            </a:r>
            <a:r>
              <a:rPr lang="en-US" sz="2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MHRP02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04599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96F6F-A0DF-4FBE-9F14-E8656A482ACD}" type="datetime1">
              <a:rPr lang="en-US" smtClean="0">
                <a:latin typeface="Arial Black" panose="020B0A04020102020204" pitchFamily="34" charset="0"/>
              </a:rPr>
              <a:t>4/9/2026</a:t>
            </a:fld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</a:t>
            </a:fld>
            <a:endParaRPr 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0707" y="1456483"/>
            <a:ext cx="8582586" cy="4899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The primary objective is 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develop an autonomous indoor delivery robot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capable of transporting materials between designated locations (Entrances of various rooms) within a single floor of a building (Hi-tech 2</a:t>
            </a:r>
            <a:r>
              <a:rPr lang="en-US" altLang="en-US" sz="1400" baseline="30000"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Floor).</a:t>
            </a:r>
          </a:p>
          <a:p>
            <a:pPr marL="285750" lvl="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The various tasks to accomplish the objective are: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implement mapping and localization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using onboard sensors, enabling the robot to autonomously navigate and plan optimal paths within its environment.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GB" sz="1400" b="1">
                <a:latin typeface="Arial" panose="020B0604020202020204" pitchFamily="34" charset="0"/>
                <a:cs typeface="Arial" panose="020B0604020202020204" pitchFamily="34" charset="0"/>
              </a:rPr>
              <a:t>enable safe and reliable navigation and path planning</a:t>
            </a:r>
            <a:r>
              <a:rPr lang="en-GB" sz="1400">
                <a:latin typeface="Arial" panose="020B0604020202020204" pitchFamily="34" charset="0"/>
                <a:cs typeface="Arial" panose="020B0604020202020204" pitchFamily="34" charset="0"/>
              </a:rPr>
              <a:t>, ensuring the robot can operate in dynamic environments and maintain a safe coexistence with human activity.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develop a user-friendly interface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for assigning pickup and drop-off tasks, providing intuitive interaction and real-time status monitoring.</a:t>
            </a:r>
          </a:p>
          <a:p>
            <a:pPr marL="285750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The secondary objectives are: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integrate an autonomous docking mechanism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that allows the robot to return to a charging station and recharge automatically when the battery level is low.</a:t>
            </a:r>
          </a:p>
          <a:p>
            <a:pPr marL="742950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design and implement a developer dashboard</a:t>
            </a:r>
            <a:r>
              <a:rPr lang="en-US" altLang="en-US" sz="1400">
                <a:latin typeface="Arial" panose="020B0604020202020204" pitchFamily="34" charset="0"/>
                <a:cs typeface="Arial" panose="020B0604020202020204" pitchFamily="34" charset="0"/>
              </a:rPr>
              <a:t> that provides remote monitoring, manual pilot control, and system diagnostics for maintenance and performance evaluation.</a:t>
            </a:r>
            <a:endParaRPr lang="en-US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6668B58-A66D-FE8A-8ADA-51F27F9541EB}"/>
              </a:ext>
            </a:extLst>
          </p:cNvPr>
          <p:cNvSpPr txBox="1">
            <a:spLocks/>
          </p:cNvSpPr>
          <p:nvPr/>
        </p:nvSpPr>
        <p:spPr>
          <a:xfrm>
            <a:off x="2897281" y="634518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860F7-5C52-AC81-70F5-F56C7BE1BC1D}"/>
              </a:ext>
            </a:extLst>
          </p:cNvPr>
          <p:cNvSpPr txBox="1">
            <a:spLocks/>
          </p:cNvSpPr>
          <p:nvPr/>
        </p:nvSpPr>
        <p:spPr>
          <a:xfrm>
            <a:off x="3202081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 Black" panose="020B0A04020102020204" pitchFamily="34" charset="0"/>
              </a:rPr>
              <a:t>21MHP401L/402L - Major Project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615A31-DB6C-7E3F-DB3B-E17A9DEECC15}"/>
              </a:ext>
            </a:extLst>
          </p:cNvPr>
          <p:cNvSpPr txBox="1"/>
          <p:nvPr/>
        </p:nvSpPr>
        <p:spPr>
          <a:xfrm>
            <a:off x="628650" y="900283"/>
            <a:ext cx="8095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Project Objective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12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C1D49-D04C-4B42-93EA-601462D25AAB}" type="datetime1">
              <a:rPr lang="en-US" smtClean="0">
                <a:latin typeface="Arial Black" panose="020B0A04020102020204" pitchFamily="34" charset="0"/>
              </a:rPr>
              <a:t>4/9/2026</a:t>
            </a:fld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3</a:t>
            </a:fld>
            <a:endParaRPr 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8FE43BF-917B-E277-D8FE-A29A54ACAF89}"/>
              </a:ext>
            </a:extLst>
          </p:cNvPr>
          <p:cNvSpPr txBox="1">
            <a:spLocks/>
          </p:cNvSpPr>
          <p:nvPr/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rial Black" panose="020B0A04020102020204" pitchFamily="34" charset="0"/>
              </a:rPr>
              <a:t>21MHP401L/402L - Major Project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953EF5-347A-7A96-5ACC-BDA83F887EDC}"/>
              </a:ext>
            </a:extLst>
          </p:cNvPr>
          <p:cNvSpPr txBox="1"/>
          <p:nvPr/>
        </p:nvSpPr>
        <p:spPr>
          <a:xfrm>
            <a:off x="628650" y="1159206"/>
            <a:ext cx="8095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87088-781F-9672-716C-CE79D0C39209}"/>
              </a:ext>
            </a:extLst>
          </p:cNvPr>
          <p:cNvSpPr txBox="1"/>
          <p:nvPr/>
        </p:nvSpPr>
        <p:spPr>
          <a:xfrm>
            <a:off x="859914" y="1867838"/>
            <a:ext cx="7655436" cy="3684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GB" sz="1600">
                <a:latin typeface="Arial" panose="020B0604020202020204" pitchFamily="34" charset="0"/>
                <a:cs typeface="Arial" panose="020B0604020202020204" pitchFamily="34" charset="0"/>
              </a:rPr>
              <a:t>System Architecture and Environment Setup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Structural Modifications and Charging Equipment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Mapping and Localization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Navigation and Task Handling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User Interface Development &amp; Integration</a:t>
            </a:r>
          </a:p>
          <a:p>
            <a:pPr marL="342900" lvl="0" indent="-3429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IN" sz="1600">
                <a:latin typeface="Arial" panose="020B0604020202020204" pitchFamily="34" charset="0"/>
                <a:cs typeface="Arial" panose="020B0604020202020204" pitchFamily="34" charset="0"/>
              </a:rPr>
              <a:t>Testing and Validation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261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5518D-18B7-3474-D6DD-129774299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1120"/>
            <a:ext cx="7886700" cy="4835843"/>
          </a:xfrm>
        </p:spPr>
        <p:txBody>
          <a:bodyPr/>
          <a:lstStyle/>
          <a:p>
            <a:pPr marL="0" indent="0">
              <a:buNone/>
            </a:pPr>
            <a:r>
              <a:rPr lang="en-US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Progress after Second review</a:t>
            </a:r>
            <a:endParaRPr lang="en-US" sz="2800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FB2FE-AEB8-9134-1D3E-8FCB45883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DC9A-ED7C-4572-B512-0DF537EDF118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E9653-CC78-B981-8125-A88AA891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4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6665165-D0AE-E9E2-3804-23C748206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21MHP401L/402L - Major Project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A7FFAC6-8682-64B6-BFAB-28105BA14168}"/>
              </a:ext>
            </a:extLst>
          </p:cNvPr>
          <p:cNvSpPr txBox="1">
            <a:spLocks/>
          </p:cNvSpPr>
          <p:nvPr/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Briefly summarize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technical progress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second review</a:t>
            </a: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presentation of the results - clearly demonstrate the </a:t>
            </a:r>
            <a:r>
              <a:rPr lang="en-US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completion</a:t>
            </a:r>
            <a:r>
              <a:rPr lang="en-US" alt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working model/prototype by including </a:t>
            </a:r>
            <a:r>
              <a:rPr lang="en-US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essential clear images or screenshots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working model (</a:t>
            </a:r>
            <a:r>
              <a:rPr lang="en-US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maximum 5 slides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</a:t>
            </a:r>
            <a:r>
              <a:rPr lang="en-US" altLang="en-US" sz="1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short video of the working model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demonstration showing the system functioning and producing output.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06669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A6D0D-3F97-8BC3-772E-CBBAE70CC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73151"/>
            <a:ext cx="7886700" cy="904940"/>
          </a:xfrm>
        </p:spPr>
        <p:txBody>
          <a:bodyPr>
            <a:normAutofit/>
          </a:bodyPr>
          <a:lstStyle/>
          <a:p>
            <a:r>
              <a:rPr lang="en-US" sz="28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Progress Status</a:t>
            </a:r>
            <a:endParaRPr lang="en-IN" sz="2800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4CAE-7900-FBFD-F99A-10D7D3CA7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(As per Zeroth Review Gantt Chart)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75DDD-C1BE-91AA-FC5F-37B932572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A64599-7A09-4DF4-8185-369618D9B1A1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6608B-E6C8-140D-BB42-F4BE5485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21MHP401L/402L - Major Project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79218-6C9B-E052-8C7F-8028584D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92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E31B-7981-4A8A-818A-88724BD27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658" y="681037"/>
            <a:ext cx="7886700" cy="1325563"/>
          </a:xfrm>
        </p:spPr>
        <p:txBody>
          <a:bodyPr>
            <a:normAutofit/>
          </a:bodyPr>
          <a:lstStyle/>
          <a:p>
            <a:r>
              <a:rPr lang="en-US" sz="24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 split up among the members (in accordance with the work progress after the first review)</a:t>
            </a:r>
            <a:endParaRPr lang="en-IN" sz="2400" u="sng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29B40B-16E9-45D7-A42A-E4895E86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312D3-1830-483B-B03D-A6732834DD6F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47D63-01EB-4DB0-9486-2644FC87A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smtClean="0"/>
              <a:t>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F1840BF-2CD0-F32A-15BE-DD9EE1B18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21MHP401L/402L - Major Project</a:t>
            </a:r>
          </a:p>
        </p:txBody>
      </p:sp>
      <p:graphicFrame>
        <p:nvGraphicFramePr>
          <p:cNvPr id="8" name="Content Placeholder 4">
            <a:extLst>
              <a:ext uri="{FF2B5EF4-FFF2-40B4-BE49-F238E27FC236}">
                <a16:creationId xmlns:a16="http://schemas.microsoft.com/office/drawing/2014/main" id="{842BD4DA-5DB9-F785-8168-34BF71E0A8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8758208"/>
              </p:ext>
            </p:extLst>
          </p:nvPr>
        </p:nvGraphicFramePr>
        <p:xfrm>
          <a:off x="1137332" y="2189517"/>
          <a:ext cx="7212563" cy="366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138">
                  <a:extLst>
                    <a:ext uri="{9D8B030D-6E8A-4147-A177-3AD203B41FA5}">
                      <a16:colId xmlns:a16="http://schemas.microsoft.com/office/drawing/2014/main" val="1344876974"/>
                    </a:ext>
                  </a:extLst>
                </a:gridCol>
                <a:gridCol w="5321425">
                  <a:extLst>
                    <a:ext uri="{9D8B030D-6E8A-4147-A177-3AD203B41FA5}">
                      <a16:colId xmlns:a16="http://schemas.microsoft.com/office/drawing/2014/main" val="1086792102"/>
                    </a:ext>
                  </a:extLst>
                </a:gridCol>
              </a:tblGrid>
              <a:tr h="643832">
                <a:tc>
                  <a:txBody>
                    <a:bodyPr/>
                    <a:lstStyle/>
                    <a:p>
                      <a:r>
                        <a:rPr lang="en-US" dirty="0"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621517"/>
                  </a:ext>
                </a:extLst>
              </a:tr>
              <a:tr h="702004">
                <a:tc>
                  <a:txBody>
                    <a:bodyPr/>
                    <a:lstStyle/>
                    <a:p>
                      <a:r>
                        <a:rPr lang="en-US" dirty="0"/>
                        <a:t>Tejas M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Tile Switching, Global Path Planning, Joystick Integration, CPU usage optimization, Frame transformation, Drift correction,  </a:t>
                      </a:r>
                      <a:r>
                        <a:rPr lang="en-US" dirty="0" err="1"/>
                        <a:t>Aruco</a:t>
                      </a:r>
                      <a:r>
                        <a:rPr lang="en-US" dirty="0"/>
                        <a:t> marker detection accuracy improvement.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418337"/>
                  </a:ext>
                </a:extLst>
              </a:tr>
              <a:tr h="1111272">
                <a:tc>
                  <a:txBody>
                    <a:bodyPr/>
                    <a:lstStyle/>
                    <a:p>
                      <a:r>
                        <a:rPr lang="en-US" dirty="0" err="1"/>
                        <a:t>Lalithesh</a:t>
                      </a:r>
                      <a:r>
                        <a:rPr lang="en-US" dirty="0"/>
                        <a:t>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Localisation</a:t>
                      </a:r>
                      <a:r>
                        <a:rPr lang="en-US" dirty="0"/>
                        <a:t>, Mapping, Motor Control, Camera Mount, Nav2 Controller, Velocity command conversion and normalization , Controller to hardware interface, Robot jogging and testing.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831716"/>
                  </a:ext>
                </a:extLst>
              </a:tr>
              <a:tr h="643832">
                <a:tc>
                  <a:txBody>
                    <a:bodyPr/>
                    <a:lstStyle/>
                    <a:p>
                      <a:r>
                        <a:rPr lang="en-US" dirty="0"/>
                        <a:t>Preetham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PCB Fabrication, Electronics Assembly, Lidar 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792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181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962F9A-8ADA-43AD-8868-FCFF28A48E0C}" type="datetime1">
              <a:rPr lang="en-US" smtClean="0">
                <a:latin typeface="Arial Black" panose="020B0A04020102020204" pitchFamily="34" charset="0"/>
              </a:rPr>
              <a:t>4/9/2026</a:t>
            </a:fld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57AEF-AC6C-4214-B74D-B2FEE02C89EB}" type="slidenum">
              <a:rPr lang="en-US" b="1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7</a:t>
            </a:fld>
            <a:endParaRPr 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3838" y="1165053"/>
            <a:ext cx="858258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Sardarabadi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M, Fard MP,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SZ. Experimental investigation of the effects of silica/water nanofluid on PV/T (photovoltaic thermal units). Energy. 2014;66: 264 – 72 </a:t>
            </a:r>
            <a:r>
              <a:rPr lang="en-US" sz="24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(Example)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B7B2EC1-B74E-B7E1-985B-FC57750F8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21MHP401L/402L - Major Project</a:t>
            </a:r>
          </a:p>
        </p:txBody>
      </p:sp>
    </p:spTree>
    <p:extLst>
      <p:ext uri="{BB962C8B-B14F-4D97-AF65-F5344CB8AC3E}">
        <p14:creationId xmlns:p14="http://schemas.microsoft.com/office/powerpoint/2010/main" val="2323360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3838" y="1608806"/>
            <a:ext cx="8582586" cy="2042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9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24964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258</TotalTime>
  <Words>511</Words>
  <Application>Microsoft Office PowerPoint</Application>
  <PresentationFormat>On-screen Show (4:3)</PresentationFormat>
  <Paragraphs>68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Project Progress Status</vt:lpstr>
      <vt:lpstr>Work split up among the members (in accordance with the work progress after the first review)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GANGA</dc:creator>
  <cp:lastModifiedBy>preetham manikandan</cp:lastModifiedBy>
  <cp:revision>53</cp:revision>
  <dcterms:created xsi:type="dcterms:W3CDTF">2018-08-13T09:05:25Z</dcterms:created>
  <dcterms:modified xsi:type="dcterms:W3CDTF">2026-04-09T12:19:14Z</dcterms:modified>
</cp:coreProperties>
</file>