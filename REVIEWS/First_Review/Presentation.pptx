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2"/>
  </p:notesMasterIdLst>
  <p:sldIdLst>
    <p:sldId id="273" r:id="rId3"/>
    <p:sldId id="274" r:id="rId4"/>
    <p:sldId id="276" r:id="rId5"/>
    <p:sldId id="277" r:id="rId6"/>
    <p:sldId id="275" r:id="rId7"/>
    <p:sldId id="262" r:id="rId8"/>
    <p:sldId id="270" r:id="rId9"/>
    <p:sldId id="269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5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54293-DBDE-4209-BE26-8F026CF66EC8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5130F-383D-4788-8415-9ACE026178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64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5130F-383D-4788-8415-9ACE026178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39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5130F-383D-4788-8415-9ACE026178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1096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24A03-C821-A1FC-40D2-3146A5323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BFBE71-945F-AD51-A058-A3166A2A4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149DE-17AA-7BB2-5914-3FEA4AB5F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B68E7-EAF3-4159-F2FD-675119BDC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5130F-383D-4788-8415-9ACE0261788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90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5130F-383D-4788-8415-9ACE0261788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27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95130F-383D-4788-8415-9ACE026178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72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71884-314F-4698-A6A4-7777078B58E8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52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64599-7A09-4DF4-8185-369618D9B1A1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7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03EFF-063C-433A-A95C-D4F8AB218678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145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5110-F2EB-4D5A-AE71-84A50C434545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753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3FF5-8934-411C-ABF9-992F9BFBF65C}" type="datetime1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2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26E4A-051A-4C87-8C77-776A3CF6C09E}" type="datetime1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06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5DEF9-1AB2-4F69-AC2E-9DE3B64362B0}" type="datetime1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054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E715F-9F33-4C3A-B197-07294F5A96D9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9547-9AF0-4E97-955B-3A6CCAC1F207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892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96E89-195B-405E-B5DE-A56A83CC41D5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485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F8AA4-430F-465D-8EFA-496146675292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5180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BF1EFC-F108-45D5-BD59-031920F91377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67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46780-4265-44A1-A95F-28216075D37F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52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81EB81-F4DE-4A1C-8131-3CD6CFD7BD60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13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74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962345-1060-4827-A918-BAFD9B830371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18MHP109L/111L - Major Project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57AEF-AC6C-4214-B74D-B2FEE02C89E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13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74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3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3FE3E-3F97-47FB-ADD0-3A54B493EED2}" type="datetime1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1/13/2026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Arial Black" panose="020B0A04020102020204" pitchFamily="34" charset="0"/>
              </a:rPr>
              <a:t>21MHP401L/403L - Major Project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0630" y="1062752"/>
            <a:ext cx="8826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Development of Floor Level Material Transfer Mobile 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933" y="2762820"/>
            <a:ext cx="7032812" cy="1883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u="sng">
                <a:latin typeface="Arial" panose="020B0604020202020204" pitchFamily="34" charset="0"/>
                <a:cs typeface="Arial" panose="020B0604020202020204" pitchFamily="34" charset="0"/>
              </a:rPr>
              <a:t>Project Members</a:t>
            </a:r>
          </a:p>
          <a:p>
            <a:pPr algn="ctr">
              <a:lnSpc>
                <a:spcPct val="150000"/>
              </a:lnSpc>
            </a:pP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Lalithesh K (RA2211038010007)</a:t>
            </a:r>
          </a:p>
          <a:p>
            <a:pPr algn="ctr">
              <a:lnSpc>
                <a:spcPct val="150000"/>
              </a:lnSpc>
            </a:pP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Tejas M K (RA2211038010012)</a:t>
            </a:r>
          </a:p>
          <a:p>
            <a:pPr algn="ctr">
              <a:lnSpc>
                <a:spcPct val="150000"/>
              </a:lnSpc>
            </a:pP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Preetham M (RA2211038010046)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94" y="4777967"/>
            <a:ext cx="7032812" cy="1133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Under the Guidance of</a:t>
            </a:r>
          </a:p>
          <a:p>
            <a:pPr algn="ctr">
              <a:lnSpc>
                <a:spcPct val="150000"/>
              </a:lnSpc>
            </a:pPr>
            <a:r>
              <a:rPr lang="en-US" sz="24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Dr. R. Senthilnathan M.E., Ph.D.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758D8E-0359-7256-8408-8D477CFAF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3AC0DA-A6FB-E83E-FA60-80DC659DA6AE}"/>
              </a:ext>
            </a:extLst>
          </p:cNvPr>
          <p:cNvSpPr txBox="1"/>
          <p:nvPr/>
        </p:nvSpPr>
        <p:spPr>
          <a:xfrm>
            <a:off x="3249043" y="2202529"/>
            <a:ext cx="2589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Batch No. MRP02</a:t>
            </a:r>
            <a:endParaRPr lang="en-IN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63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42D73-ABBB-4738-B8CF-04AA246A36FA}" type="datetime1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1/13/2026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A6668B58-A66D-FE8A-8ADA-51F27F9541EB}"/>
              </a:ext>
            </a:extLst>
          </p:cNvPr>
          <p:cNvSpPr txBox="1">
            <a:spLocks/>
          </p:cNvSpPr>
          <p:nvPr/>
        </p:nvSpPr>
        <p:spPr>
          <a:xfrm>
            <a:off x="2897281" y="634518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 Black" panose="020B0A04020102020204" pitchFamily="34" charset="0"/>
              </a:rPr>
              <a:t>21MHP401L/403L - Major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C74F4-BFCC-D34C-0A55-FFF6BEA7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4E662-AC0D-BE34-BF2B-D8C606EBD2C4}"/>
              </a:ext>
            </a:extLst>
          </p:cNvPr>
          <p:cNvSpPr txBox="1"/>
          <p:nvPr/>
        </p:nvSpPr>
        <p:spPr>
          <a:xfrm>
            <a:off x="628650" y="900283"/>
            <a:ext cx="80954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  <a:endParaRPr lang="en-IN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A3348-C735-A36B-DB34-F867CEEB1926}"/>
              </a:ext>
            </a:extLst>
          </p:cNvPr>
          <p:cNvSpPr txBox="1"/>
          <p:nvPr/>
        </p:nvSpPr>
        <p:spPr>
          <a:xfrm>
            <a:off x="419878" y="1456483"/>
            <a:ext cx="8315490" cy="4899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The primary objective is to </a:t>
            </a:r>
            <a:r>
              <a:rPr lang="en-US" altLang="en-US" sz="1400" b="1">
                <a:latin typeface="Arial" panose="020B0604020202020204" pitchFamily="34" charset="0"/>
                <a:cs typeface="Arial" panose="020B0604020202020204" pitchFamily="34" charset="0"/>
              </a:rPr>
              <a:t>develop an autonomous indoor delivery robot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capable of transporting materials between designated locations (Entrances of various rooms) within a single floor of a building (Hi-tech 2</a:t>
            </a:r>
            <a:r>
              <a:rPr lang="en-US" altLang="en-US" sz="1400" baseline="3000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Floor).</a:t>
            </a:r>
          </a:p>
          <a:p>
            <a:pPr marL="285750" lvl="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The various tasks to accomplish the objective are: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altLang="en-US" sz="1400" b="1">
                <a:latin typeface="Arial" panose="020B0604020202020204" pitchFamily="34" charset="0"/>
                <a:cs typeface="Arial" panose="020B0604020202020204" pitchFamily="34" charset="0"/>
              </a:rPr>
              <a:t>implement mapping and localization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using onboard sensors, enabling the robot to autonomously navigate and plan optimal paths within its environment.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GB" sz="140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GB" sz="1400" b="1">
                <a:latin typeface="Arial" panose="020B0604020202020204" pitchFamily="34" charset="0"/>
                <a:cs typeface="Arial" panose="020B0604020202020204" pitchFamily="34" charset="0"/>
              </a:rPr>
              <a:t>enable safe and reliable navigation and path planning</a:t>
            </a:r>
            <a:r>
              <a:rPr lang="en-GB" sz="1400">
                <a:latin typeface="Arial" panose="020B0604020202020204" pitchFamily="34" charset="0"/>
                <a:cs typeface="Arial" panose="020B0604020202020204" pitchFamily="34" charset="0"/>
              </a:rPr>
              <a:t>, ensuring the robot can operate in dynamic environments and maintain a safe coexistence with human activity.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altLang="en-US" sz="1400" b="1">
                <a:latin typeface="Arial" panose="020B0604020202020204" pitchFamily="34" charset="0"/>
                <a:cs typeface="Arial" panose="020B0604020202020204" pitchFamily="34" charset="0"/>
              </a:rPr>
              <a:t>develop a user-friendly interface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for assigning pickup and drop-off tasks, providing intuitive interaction and real-time status monitoring.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The secondary objectives are: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altLang="en-US" sz="1400" b="1">
                <a:latin typeface="Arial" panose="020B0604020202020204" pitchFamily="34" charset="0"/>
                <a:cs typeface="Arial" panose="020B0604020202020204" pitchFamily="34" charset="0"/>
              </a:rPr>
              <a:t>integrate an autonomous docking mechanism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that allows the robot to return to a charging station and recharge automatically when the battery level is low.</a:t>
            </a:r>
          </a:p>
          <a:p>
            <a:pPr marL="742950" lvl="1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altLang="en-US" sz="1400" b="1">
                <a:latin typeface="Arial" panose="020B0604020202020204" pitchFamily="34" charset="0"/>
                <a:cs typeface="Arial" panose="020B0604020202020204" pitchFamily="34" charset="0"/>
              </a:rPr>
              <a:t>design and implement a developer dashboard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that provides remote monitoring, manual pilot control, and system diagnostics for maintenance and performance evaluation.</a:t>
            </a:r>
          </a:p>
        </p:txBody>
      </p:sp>
    </p:spTree>
    <p:extLst>
      <p:ext uri="{BB962C8B-B14F-4D97-AF65-F5344CB8AC3E}">
        <p14:creationId xmlns:p14="http://schemas.microsoft.com/office/powerpoint/2010/main" val="2467166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1F721989-FD5E-81B4-7D35-94210A5804A8}"/>
              </a:ext>
            </a:extLst>
          </p:cNvPr>
          <p:cNvSpPr txBox="1"/>
          <p:nvPr/>
        </p:nvSpPr>
        <p:spPr>
          <a:xfrm rot="16200000">
            <a:off x="3087924" y="2676072"/>
            <a:ext cx="6529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700"/>
              <a:t>Override delivery tasks if charge low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AD0FD-CA97-4D12-90B6-1074F94F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8F5C-EA58-4B19-8DAD-638845D8F13F}" type="datetime1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1/13/2026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C68E88A-6ACE-E1F2-E6F5-AFDCF396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>
                <a:latin typeface="Arial Black" panose="020B0A04020102020204" pitchFamily="34" charset="0"/>
              </a:rPr>
              <a:t>21MHP401L/403L - Major Project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A3EC68-61FC-6F18-710E-C586BA02B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3C22F-5E07-D2C7-7297-9AF614049C25}"/>
              </a:ext>
            </a:extLst>
          </p:cNvPr>
          <p:cNvSpPr txBox="1"/>
          <p:nvPr/>
        </p:nvSpPr>
        <p:spPr>
          <a:xfrm>
            <a:off x="360592" y="945597"/>
            <a:ext cx="8574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High Level System Block Diagram</a:t>
            </a:r>
            <a:endParaRPr lang="en-IN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40902E2-036C-46D6-EE4B-9A745533FCB6}"/>
              </a:ext>
            </a:extLst>
          </p:cNvPr>
          <p:cNvGrpSpPr/>
          <p:nvPr/>
        </p:nvGrpSpPr>
        <p:grpSpPr>
          <a:xfrm>
            <a:off x="262251" y="1734637"/>
            <a:ext cx="8542566" cy="4535356"/>
            <a:chOff x="220818" y="1054125"/>
            <a:chExt cx="8542566" cy="4535356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6D6385F-9961-879F-B41A-6E1F53625EEC}"/>
                </a:ext>
              </a:extLst>
            </p:cNvPr>
            <p:cNvGrpSpPr/>
            <p:nvPr/>
          </p:nvGrpSpPr>
          <p:grpSpPr>
            <a:xfrm>
              <a:off x="220818" y="2427752"/>
              <a:ext cx="8542566" cy="3161729"/>
              <a:chOff x="326473" y="2307481"/>
              <a:chExt cx="8542566" cy="3161729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DBB1602-F906-03A1-44F3-217FC97BD951}"/>
                  </a:ext>
                </a:extLst>
              </p:cNvPr>
              <p:cNvSpPr txBox="1"/>
              <p:nvPr/>
            </p:nvSpPr>
            <p:spPr>
              <a:xfrm>
                <a:off x="4826684" y="3701451"/>
                <a:ext cx="89223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700">
                    <a:latin typeface="Arial" panose="020B0604020202020204" pitchFamily="34" charset="0"/>
                    <a:cs typeface="Arial" panose="020B0604020202020204" pitchFamily="34" charset="0"/>
                  </a:rPr>
                  <a:t>Map</a:t>
                </a:r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FF6BB48-7C43-A6D3-18DD-DDFA52936911}"/>
                  </a:ext>
                </a:extLst>
              </p:cNvPr>
              <p:cNvGrpSpPr/>
              <p:nvPr/>
            </p:nvGrpSpPr>
            <p:grpSpPr>
              <a:xfrm>
                <a:off x="326473" y="2307481"/>
                <a:ext cx="8542566" cy="3161729"/>
                <a:chOff x="326473" y="2307481"/>
                <a:chExt cx="8542566" cy="3161729"/>
              </a:xfrm>
            </p:grpSpPr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31F006DA-67CC-04E0-BD2D-8BC809ED207E}"/>
                    </a:ext>
                  </a:extLst>
                </p:cNvPr>
                <p:cNvCxnSpPr>
                  <a:cxnSpLocks/>
                  <a:stCxn id="10" idx="3"/>
                  <a:endCxn id="16" idx="1"/>
                </p:cNvCxnSpPr>
                <p:nvPr/>
              </p:nvCxnSpPr>
              <p:spPr>
                <a:xfrm flipV="1">
                  <a:off x="4517475" y="2747547"/>
                  <a:ext cx="664806" cy="1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DC584B5E-647C-8706-B8F6-A2A045B5885E}"/>
                    </a:ext>
                  </a:extLst>
                </p:cNvPr>
                <p:cNvGrpSpPr/>
                <p:nvPr/>
              </p:nvGrpSpPr>
              <p:grpSpPr>
                <a:xfrm>
                  <a:off x="326473" y="2307481"/>
                  <a:ext cx="8542566" cy="3161729"/>
                  <a:chOff x="452144" y="2002680"/>
                  <a:chExt cx="8542566" cy="3161729"/>
                </a:xfrm>
              </p:grpSpPr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548A4786-7453-E521-6C82-4811DC94B383}"/>
                      </a:ext>
                    </a:extLst>
                  </p:cNvPr>
                  <p:cNvSpPr txBox="1"/>
                  <p:nvPr/>
                </p:nvSpPr>
                <p:spPr>
                  <a:xfrm>
                    <a:off x="2086363" y="2303687"/>
                    <a:ext cx="892239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IN" sz="7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Pickup &amp; Dropoff</a:t>
                    </a:r>
                  </a:p>
                </p:txBody>
              </p:sp>
              <p:sp>
                <p:nvSpPr>
                  <p:cNvPr id="9" name="Rectangle: Rounded Corners 8">
                    <a:extLst>
                      <a:ext uri="{FF2B5EF4-FFF2-40B4-BE49-F238E27FC236}">
                        <a16:creationId xmlns:a16="http://schemas.microsoft.com/office/drawing/2014/main" id="{0841D82B-3D1C-1C37-E437-1AFACE59AB3F}"/>
                      </a:ext>
                    </a:extLst>
                  </p:cNvPr>
                  <p:cNvSpPr/>
                  <p:nvPr/>
                </p:nvSpPr>
                <p:spPr>
                  <a:xfrm>
                    <a:off x="452144" y="2150359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User Interface</a:t>
                    </a:r>
                  </a:p>
                </p:txBody>
              </p:sp>
              <p:sp>
                <p:nvSpPr>
                  <p:cNvPr id="10" name="Rectangle: Rounded Corners 9">
                    <a:extLst>
                      <a:ext uri="{FF2B5EF4-FFF2-40B4-BE49-F238E27FC236}">
                        <a16:creationId xmlns:a16="http://schemas.microsoft.com/office/drawing/2014/main" id="{5D1A8A9C-09DD-4E4D-1BFD-CC962E03CEF0}"/>
                      </a:ext>
                    </a:extLst>
                  </p:cNvPr>
                  <p:cNvSpPr/>
                  <p:nvPr/>
                </p:nvSpPr>
                <p:spPr>
                  <a:xfrm>
                    <a:off x="3028950" y="2150359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Mission/Task Manager</a:t>
                    </a:r>
                  </a:p>
                </p:txBody>
              </p:sp>
              <p:cxnSp>
                <p:nvCxnSpPr>
                  <p:cNvPr id="12" name="Straight Arrow Connector 11">
                    <a:extLst>
                      <a:ext uri="{FF2B5EF4-FFF2-40B4-BE49-F238E27FC236}">
                        <a16:creationId xmlns:a16="http://schemas.microsoft.com/office/drawing/2014/main" id="{CD57ECC6-3154-5D22-A9C7-734B006BB5C8}"/>
                      </a:ext>
                    </a:extLst>
                  </p:cNvPr>
                  <p:cNvCxnSpPr>
                    <a:cxnSpLocks/>
                    <a:stCxn id="9" idx="3"/>
                    <a:endCxn id="10" idx="1"/>
                  </p:cNvCxnSpPr>
                  <p:nvPr/>
                </p:nvCxnSpPr>
                <p:spPr>
                  <a:xfrm>
                    <a:off x="2066340" y="2442747"/>
                    <a:ext cx="962610" cy="0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" name="Rectangle: Rounded Corners 15">
                    <a:extLst>
                      <a:ext uri="{FF2B5EF4-FFF2-40B4-BE49-F238E27FC236}">
                        <a16:creationId xmlns:a16="http://schemas.microsoft.com/office/drawing/2014/main" id="{E7BFA393-1E78-6761-855B-0859DF965576}"/>
                      </a:ext>
                    </a:extLst>
                  </p:cNvPr>
                  <p:cNvSpPr/>
                  <p:nvPr/>
                </p:nvSpPr>
                <p:spPr>
                  <a:xfrm>
                    <a:off x="5307952" y="2002680"/>
                    <a:ext cx="1614196" cy="880132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Mapping &amp; Localisation Module</a:t>
                    </a:r>
                  </a:p>
                </p:txBody>
              </p:sp>
              <p:sp>
                <p:nvSpPr>
                  <p:cNvPr id="25" name="Rectangle: Rounded Corners 24">
                    <a:extLst>
                      <a:ext uri="{FF2B5EF4-FFF2-40B4-BE49-F238E27FC236}">
                        <a16:creationId xmlns:a16="http://schemas.microsoft.com/office/drawing/2014/main" id="{8F069DCC-5451-720A-7971-1BA406E5D0EB}"/>
                      </a:ext>
                    </a:extLst>
                  </p:cNvPr>
                  <p:cNvSpPr/>
                  <p:nvPr/>
                </p:nvSpPr>
                <p:spPr>
                  <a:xfrm>
                    <a:off x="3028950" y="3268158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Global Planner</a:t>
                    </a:r>
                  </a:p>
                </p:txBody>
              </p: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226BEA1E-1147-837D-C313-85D2DFD7F6C5}"/>
                      </a:ext>
                    </a:extLst>
                  </p:cNvPr>
                  <p:cNvCxnSpPr>
                    <a:cxnSpLocks/>
                    <a:stCxn id="10" idx="2"/>
                    <a:endCxn id="25" idx="0"/>
                  </p:cNvCxnSpPr>
                  <p:nvPr/>
                </p:nvCxnSpPr>
                <p:spPr>
                  <a:xfrm>
                    <a:off x="3836048" y="2735134"/>
                    <a:ext cx="0" cy="533024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Connector: Elbow 33">
                    <a:extLst>
                      <a:ext uri="{FF2B5EF4-FFF2-40B4-BE49-F238E27FC236}">
                        <a16:creationId xmlns:a16="http://schemas.microsoft.com/office/drawing/2014/main" id="{8750D932-9BF2-3BC4-2B7E-B9953123DC11}"/>
                      </a:ext>
                    </a:extLst>
                  </p:cNvPr>
                  <p:cNvCxnSpPr>
                    <a:stCxn id="16" idx="2"/>
                    <a:endCxn id="25" idx="3"/>
                  </p:cNvCxnSpPr>
                  <p:nvPr/>
                </p:nvCxnSpPr>
                <p:spPr>
                  <a:xfrm rot="5400000">
                    <a:off x="5040231" y="2485727"/>
                    <a:ext cx="677734" cy="1471904"/>
                  </a:xfrm>
                  <a:prstGeom prst="bentConnector2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tangle: Rounded Corners 35">
                    <a:extLst>
                      <a:ext uri="{FF2B5EF4-FFF2-40B4-BE49-F238E27FC236}">
                        <a16:creationId xmlns:a16="http://schemas.microsoft.com/office/drawing/2014/main" id="{A3AE7F45-4DCC-806C-9630-A6CC9B23193B}"/>
                      </a:ext>
                    </a:extLst>
                  </p:cNvPr>
                  <p:cNvSpPr/>
                  <p:nvPr/>
                </p:nvSpPr>
                <p:spPr>
                  <a:xfrm>
                    <a:off x="7380514" y="2150358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Perception Module</a:t>
                    </a:r>
                  </a:p>
                </p:txBody>
              </p: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1BC7D8ED-AFC8-8C2F-394A-C14BF4A178B3}"/>
                      </a:ext>
                    </a:extLst>
                  </p:cNvPr>
                  <p:cNvCxnSpPr>
                    <a:stCxn id="36" idx="1"/>
                    <a:endCxn id="16" idx="3"/>
                  </p:cNvCxnSpPr>
                  <p:nvPr/>
                </p:nvCxnSpPr>
                <p:spPr>
                  <a:xfrm flipH="1">
                    <a:off x="6922148" y="2442746"/>
                    <a:ext cx="458366" cy="0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" name="Rectangle: Rounded Corners 38">
                    <a:extLst>
                      <a:ext uri="{FF2B5EF4-FFF2-40B4-BE49-F238E27FC236}">
                        <a16:creationId xmlns:a16="http://schemas.microsoft.com/office/drawing/2014/main" id="{569E00DC-FEBC-D661-9A3A-46092260BFC9}"/>
                      </a:ext>
                    </a:extLst>
                  </p:cNvPr>
                  <p:cNvSpPr/>
                  <p:nvPr/>
                </p:nvSpPr>
                <p:spPr>
                  <a:xfrm>
                    <a:off x="7380514" y="3148621"/>
                    <a:ext cx="1614196" cy="823848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Obstacle Detection Module</a:t>
                    </a:r>
                  </a:p>
                </p:txBody>
              </p: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3B41B858-9C2B-6443-5380-DF1C612799A4}"/>
                      </a:ext>
                    </a:extLst>
                  </p:cNvPr>
                  <p:cNvCxnSpPr>
                    <a:cxnSpLocks/>
                    <a:stCxn id="36" idx="2"/>
                    <a:endCxn id="39" idx="0"/>
                  </p:cNvCxnSpPr>
                  <p:nvPr/>
                </p:nvCxnSpPr>
                <p:spPr>
                  <a:xfrm>
                    <a:off x="8187612" y="2735133"/>
                    <a:ext cx="0" cy="413488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" name="Rectangle: Rounded Corners 42">
                    <a:extLst>
                      <a:ext uri="{FF2B5EF4-FFF2-40B4-BE49-F238E27FC236}">
                        <a16:creationId xmlns:a16="http://schemas.microsoft.com/office/drawing/2014/main" id="{8A6FE273-BB5B-A1EF-D568-7B7F0DAB0D4F}"/>
                      </a:ext>
                    </a:extLst>
                  </p:cNvPr>
                  <p:cNvSpPr/>
                  <p:nvPr/>
                </p:nvSpPr>
                <p:spPr>
                  <a:xfrm>
                    <a:off x="7380514" y="4579634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Local Planner</a:t>
                    </a:r>
                  </a:p>
                </p:txBody>
              </p:sp>
              <p:sp>
                <p:nvSpPr>
                  <p:cNvPr id="44" name="Rectangle: Rounded Corners 43">
                    <a:extLst>
                      <a:ext uri="{FF2B5EF4-FFF2-40B4-BE49-F238E27FC236}">
                        <a16:creationId xmlns:a16="http://schemas.microsoft.com/office/drawing/2014/main" id="{18B9CD76-E0C0-D86A-A2B3-3D71051826B7}"/>
                      </a:ext>
                    </a:extLst>
                  </p:cNvPr>
                  <p:cNvSpPr/>
                  <p:nvPr/>
                </p:nvSpPr>
                <p:spPr>
                  <a:xfrm>
                    <a:off x="4900550" y="4579633"/>
                    <a:ext cx="1614196" cy="584775"/>
                  </a:xfrm>
                  <a:prstGeom prst="roundRect">
                    <a:avLst/>
                  </a:prstGeom>
                  <a:solidFill>
                    <a:srgbClr val="00206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IN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Control Module</a:t>
                    </a:r>
                  </a:p>
                </p:txBody>
              </p:sp>
              <p:cxnSp>
                <p:nvCxnSpPr>
                  <p:cNvPr id="45" name="Connector: Elbow 44">
                    <a:extLst>
                      <a:ext uri="{FF2B5EF4-FFF2-40B4-BE49-F238E27FC236}">
                        <a16:creationId xmlns:a16="http://schemas.microsoft.com/office/drawing/2014/main" id="{6CB0D059-D543-8466-DE5C-52B428AC7DE9}"/>
                      </a:ext>
                    </a:extLst>
                  </p:cNvPr>
                  <p:cNvCxnSpPr>
                    <a:cxnSpLocks/>
                    <a:stCxn id="25" idx="2"/>
                    <a:endCxn id="44" idx="1"/>
                  </p:cNvCxnSpPr>
                  <p:nvPr/>
                </p:nvCxnSpPr>
                <p:spPr>
                  <a:xfrm rot="16200000" flipH="1">
                    <a:off x="3858755" y="3830226"/>
                    <a:ext cx="1019088" cy="1064502"/>
                  </a:xfrm>
                  <a:prstGeom prst="bentConnector2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Arrow Connector 47">
                    <a:extLst>
                      <a:ext uri="{FF2B5EF4-FFF2-40B4-BE49-F238E27FC236}">
                        <a16:creationId xmlns:a16="http://schemas.microsoft.com/office/drawing/2014/main" id="{C15739DA-4B43-3ED3-042B-37BD6A5A7C4D}"/>
                      </a:ext>
                    </a:extLst>
                  </p:cNvPr>
                  <p:cNvCxnSpPr>
                    <a:cxnSpLocks/>
                    <a:stCxn id="39" idx="2"/>
                    <a:endCxn id="43" idx="0"/>
                  </p:cNvCxnSpPr>
                  <p:nvPr/>
                </p:nvCxnSpPr>
                <p:spPr>
                  <a:xfrm>
                    <a:off x="8187612" y="3972469"/>
                    <a:ext cx="0" cy="607165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Straight Arrow Connector 50">
                    <a:extLst>
                      <a:ext uri="{FF2B5EF4-FFF2-40B4-BE49-F238E27FC236}">
                        <a16:creationId xmlns:a16="http://schemas.microsoft.com/office/drawing/2014/main" id="{BB116101-6467-1FB1-3453-06837DD30144}"/>
                      </a:ext>
                    </a:extLst>
                  </p:cNvPr>
                  <p:cNvCxnSpPr>
                    <a:cxnSpLocks/>
                    <a:stCxn id="43" idx="1"/>
                    <a:endCxn id="44" idx="3"/>
                  </p:cNvCxnSpPr>
                  <p:nvPr/>
                </p:nvCxnSpPr>
                <p:spPr>
                  <a:xfrm flipH="1" flipV="1">
                    <a:off x="6514746" y="4872021"/>
                    <a:ext cx="865768" cy="1"/>
                  </a:xfrm>
                  <a:prstGeom prst="straightConnector1">
                    <a:avLst/>
                  </a:prstGeom>
                  <a:ln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7617825-772F-F011-3489-21E88D4E9D12}"/>
                </a:ext>
              </a:extLst>
            </p:cNvPr>
            <p:cNvSpPr/>
            <p:nvPr/>
          </p:nvSpPr>
          <p:spPr>
            <a:xfrm>
              <a:off x="2797624" y="1054125"/>
              <a:ext cx="1614196" cy="936533"/>
            </a:xfrm>
            <a:prstGeom prst="round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>
                  <a:latin typeface="Arial" panose="020B0604020202020204" pitchFamily="34" charset="0"/>
                  <a:cs typeface="Arial" panose="020B0604020202020204" pitchFamily="34" charset="0"/>
                </a:rPr>
                <a:t>Charge Monitoring and Docking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5A664E9-70AD-BB8F-8179-A3F079E0D8DB}"/>
                </a:ext>
              </a:extLst>
            </p:cNvPr>
            <p:cNvCxnSpPr>
              <a:cxnSpLocks/>
              <a:stCxn id="3" idx="2"/>
              <a:endCxn id="10" idx="0"/>
            </p:cNvCxnSpPr>
            <p:nvPr/>
          </p:nvCxnSpPr>
          <p:spPr>
            <a:xfrm>
              <a:off x="3604722" y="1990658"/>
              <a:ext cx="0" cy="584773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00876A-9398-ED41-6536-5F6EF15C8A57}"/>
              </a:ext>
            </a:extLst>
          </p:cNvPr>
          <p:cNvSpPr/>
          <p:nvPr/>
        </p:nvSpPr>
        <p:spPr>
          <a:xfrm>
            <a:off x="767877" y="4916190"/>
            <a:ext cx="1614196" cy="930889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>
                <a:latin typeface="Arial" panose="020B0604020202020204" pitchFamily="34" charset="0"/>
                <a:cs typeface="Arial" panose="020B0604020202020204" pitchFamily="34" charset="0"/>
              </a:rPr>
              <a:t>Alerts &amp; Notification System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A1B5AF8-9CE3-F186-73EC-0D7548D4D53A}"/>
              </a:ext>
            </a:extLst>
          </p:cNvPr>
          <p:cNvCxnSpPr>
            <a:cxnSpLocks/>
            <a:stCxn id="10" idx="2"/>
            <a:endCxn id="6" idx="0"/>
          </p:cNvCxnSpPr>
          <p:nvPr/>
        </p:nvCxnSpPr>
        <p:spPr>
          <a:xfrm rot="5400000">
            <a:off x="2072829" y="3342864"/>
            <a:ext cx="1075472" cy="2071180"/>
          </a:xfrm>
          <a:prstGeom prst="bentConnector3">
            <a:avLst>
              <a:gd name="adj1" fmla="val 23487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C326432-22C2-3D1B-9165-63A67C039B20}"/>
              </a:ext>
            </a:extLst>
          </p:cNvPr>
          <p:cNvCxnSpPr>
            <a:cxnSpLocks/>
            <a:stCxn id="39" idx="1"/>
            <a:endCxn id="6" idx="3"/>
          </p:cNvCxnSpPr>
          <p:nvPr/>
        </p:nvCxnSpPr>
        <p:spPr>
          <a:xfrm rot="10800000" flipV="1">
            <a:off x="2382073" y="4666129"/>
            <a:ext cx="4808548" cy="715506"/>
          </a:xfrm>
          <a:prstGeom prst="bentConnector3">
            <a:avLst>
              <a:gd name="adj1" fmla="val 20556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B4D4300-6EB4-0982-38E1-79DE358D8343}"/>
              </a:ext>
            </a:extLst>
          </p:cNvPr>
          <p:cNvSpPr txBox="1"/>
          <p:nvPr/>
        </p:nvSpPr>
        <p:spPr>
          <a:xfrm>
            <a:off x="3926124" y="5209722"/>
            <a:ext cx="135306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700"/>
              <a:t>Dynamic Obstacle in Path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C7F33D-D332-F6B0-12A8-D6A3A7EB619C}"/>
              </a:ext>
            </a:extLst>
          </p:cNvPr>
          <p:cNvSpPr txBox="1"/>
          <p:nvPr/>
        </p:nvSpPr>
        <p:spPr>
          <a:xfrm>
            <a:off x="1860210" y="4057297"/>
            <a:ext cx="135306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700"/>
              <a:t>Arrival for Pickup or Dropoff</a:t>
            </a:r>
          </a:p>
        </p:txBody>
      </p:sp>
    </p:spTree>
    <p:extLst>
      <p:ext uri="{BB962C8B-B14F-4D97-AF65-F5344CB8AC3E}">
        <p14:creationId xmlns:p14="http://schemas.microsoft.com/office/powerpoint/2010/main" val="1182030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E7489-C5FC-597D-A471-0A75B825E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CEE48-E5F0-AF37-307E-3BE10A51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8F5C-EA58-4B19-8DAD-638845D8F13F}" type="datetime1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1/13/2026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2FE73AA5-F66E-B2B2-0E8D-DE0CC2058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>
                <a:latin typeface="Arial Black" panose="020B0A04020102020204" pitchFamily="34" charset="0"/>
              </a:rPr>
              <a:t>21MHP401L/403L - Major Project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7054DD-4A89-29A8-A96F-128A541D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B5D2C5-86F2-CC5E-7E36-A23A0F52A195}"/>
              </a:ext>
            </a:extLst>
          </p:cNvPr>
          <p:cNvSpPr txBox="1"/>
          <p:nvPr/>
        </p:nvSpPr>
        <p:spPr>
          <a:xfrm>
            <a:off x="343678" y="1001097"/>
            <a:ext cx="8574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Hardware Block Diagram</a:t>
            </a:r>
            <a:endParaRPr lang="en-IN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A847E7-C68B-7823-6357-7AEAB0BA1C7B}"/>
              </a:ext>
            </a:extLst>
          </p:cNvPr>
          <p:cNvGrpSpPr/>
          <p:nvPr/>
        </p:nvGrpSpPr>
        <p:grpSpPr>
          <a:xfrm>
            <a:off x="7350653" y="1812480"/>
            <a:ext cx="1666874" cy="4258000"/>
            <a:chOff x="7343191" y="1984381"/>
            <a:chExt cx="1666874" cy="42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AA063F-F75F-F217-FE4F-C6423C9FE602}"/>
                </a:ext>
              </a:extLst>
            </p:cNvPr>
            <p:cNvSpPr/>
            <p:nvPr/>
          </p:nvSpPr>
          <p:spPr>
            <a:xfrm>
              <a:off x="7343191" y="1984381"/>
              <a:ext cx="1666874" cy="36512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USB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D95CC3-56A3-6825-895A-DAD8F47CD565}"/>
                </a:ext>
              </a:extLst>
            </p:cNvPr>
            <p:cNvSpPr/>
            <p:nvPr/>
          </p:nvSpPr>
          <p:spPr>
            <a:xfrm>
              <a:off x="7343191" y="2410799"/>
              <a:ext cx="1666872" cy="365125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UART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623AC1-DE26-61F9-788F-F9E4BD23BF43}"/>
                </a:ext>
              </a:extLst>
            </p:cNvPr>
            <p:cNvSpPr/>
            <p:nvPr/>
          </p:nvSpPr>
          <p:spPr>
            <a:xfrm>
              <a:off x="7343193" y="2845689"/>
              <a:ext cx="1666870" cy="3651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Digital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B356289-4550-729D-B0B2-5B0FE3BFA7C4}"/>
                </a:ext>
              </a:extLst>
            </p:cNvPr>
            <p:cNvSpPr/>
            <p:nvPr/>
          </p:nvSpPr>
          <p:spPr>
            <a:xfrm>
              <a:off x="7343194" y="3280579"/>
              <a:ext cx="1666869" cy="365125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PWM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8D8E88-1DD4-2A97-A379-7BD551AAC163}"/>
                </a:ext>
              </a:extLst>
            </p:cNvPr>
            <p:cNvSpPr/>
            <p:nvPr/>
          </p:nvSpPr>
          <p:spPr>
            <a:xfrm>
              <a:off x="7343199" y="3707029"/>
              <a:ext cx="1666866" cy="3651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Analog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A299E98-4127-FB5F-6FED-FEA27F3B235F}"/>
                </a:ext>
              </a:extLst>
            </p:cNvPr>
            <p:cNvSpPr/>
            <p:nvPr/>
          </p:nvSpPr>
          <p:spPr>
            <a:xfrm>
              <a:off x="7343199" y="4136035"/>
              <a:ext cx="1666866" cy="36512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Mechanical Coupling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E642E4D-3998-3DE6-4EC4-768F2ECF5D28}"/>
                </a:ext>
              </a:extLst>
            </p:cNvPr>
            <p:cNvSpPr/>
            <p:nvPr/>
          </p:nvSpPr>
          <p:spPr>
            <a:xfrm>
              <a:off x="7343198" y="4568561"/>
              <a:ext cx="1666866" cy="3651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Sensor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57A478B-015C-BD35-79CD-1F56EEC115A0}"/>
                </a:ext>
              </a:extLst>
            </p:cNvPr>
            <p:cNvSpPr/>
            <p:nvPr/>
          </p:nvSpPr>
          <p:spPr>
            <a:xfrm>
              <a:off x="7343193" y="5000051"/>
              <a:ext cx="1666866" cy="365125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Power System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1F18622-D1E9-2E1E-1F64-7C7DF9B3DC4E}"/>
                </a:ext>
              </a:extLst>
            </p:cNvPr>
            <p:cNvSpPr/>
            <p:nvPr/>
          </p:nvSpPr>
          <p:spPr>
            <a:xfrm>
              <a:off x="7343193" y="5438526"/>
              <a:ext cx="1666866" cy="36512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Actuation System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CC6F502-1EBC-4E92-C891-C7248E906113}"/>
                </a:ext>
              </a:extLst>
            </p:cNvPr>
            <p:cNvSpPr/>
            <p:nvPr/>
          </p:nvSpPr>
          <p:spPr>
            <a:xfrm>
              <a:off x="7343193" y="5877256"/>
              <a:ext cx="1666866" cy="3651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>
                  <a:latin typeface="Arial" panose="020B0604020202020204" pitchFamily="34" charset="0"/>
                  <a:cs typeface="Arial" panose="020B0604020202020204" pitchFamily="34" charset="0"/>
                </a:rPr>
                <a:t>Communication System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8CE6961E-9561-967F-E95B-1C0FC92A03D7}"/>
              </a:ext>
            </a:extLst>
          </p:cNvPr>
          <p:cNvGrpSpPr/>
          <p:nvPr/>
        </p:nvGrpSpPr>
        <p:grpSpPr>
          <a:xfrm>
            <a:off x="5997449" y="1926687"/>
            <a:ext cx="921001" cy="473204"/>
            <a:chOff x="5616096" y="2196153"/>
            <a:chExt cx="921001" cy="473204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F54CEA3D-8C30-B26E-4299-9FCA579D97D8}"/>
                </a:ext>
              </a:extLst>
            </p:cNvPr>
            <p:cNvGrpSpPr/>
            <p:nvPr/>
          </p:nvGrpSpPr>
          <p:grpSpPr>
            <a:xfrm>
              <a:off x="5617503" y="2196153"/>
              <a:ext cx="919594" cy="261610"/>
              <a:chOff x="5960533" y="2287564"/>
              <a:chExt cx="919594" cy="261610"/>
            </a:xfrm>
          </p:grpSpPr>
          <p:cxnSp>
            <p:nvCxnSpPr>
              <p:cNvPr id="145" name="Straight Arrow Connector 144">
                <a:extLst>
                  <a:ext uri="{FF2B5EF4-FFF2-40B4-BE49-F238E27FC236}">
                    <a16:creationId xmlns:a16="http://schemas.microsoft.com/office/drawing/2014/main" id="{70DA3793-DDA5-E2E3-1C83-3B5F8774C6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0533" y="2421460"/>
                <a:ext cx="497417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prstDash val="lg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7D459A36-A3D8-55CF-0EC5-AA01F8B069D7}"/>
                  </a:ext>
                </a:extLst>
              </p:cNvPr>
              <p:cNvSpPr txBox="1"/>
              <p:nvPr/>
            </p:nvSpPr>
            <p:spPr>
              <a:xfrm>
                <a:off x="6382710" y="2287564"/>
                <a:ext cx="49741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100">
                    <a:latin typeface="Arial" panose="020B0604020202020204" pitchFamily="34" charset="0"/>
                    <a:cs typeface="Arial" panose="020B0604020202020204" pitchFamily="34" charset="0"/>
                  </a:rPr>
                  <a:t>5V</a:t>
                </a:r>
              </a:p>
            </p:txBody>
          </p:sp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30B71108-C44F-F111-92C7-4F458129B248}"/>
                </a:ext>
              </a:extLst>
            </p:cNvPr>
            <p:cNvGrpSpPr/>
            <p:nvPr/>
          </p:nvGrpSpPr>
          <p:grpSpPr>
            <a:xfrm>
              <a:off x="5616096" y="2407747"/>
              <a:ext cx="919594" cy="261610"/>
              <a:chOff x="5960533" y="2287564"/>
              <a:chExt cx="919594" cy="261610"/>
            </a:xfrm>
          </p:grpSpPr>
          <p:cxnSp>
            <p:nvCxnSpPr>
              <p:cNvPr id="151" name="Straight Arrow Connector 150">
                <a:extLst>
                  <a:ext uri="{FF2B5EF4-FFF2-40B4-BE49-F238E27FC236}">
                    <a16:creationId xmlns:a16="http://schemas.microsoft.com/office/drawing/2014/main" id="{ABD5C901-5399-5C1E-27AA-1FF799A6FB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60533" y="2421460"/>
                <a:ext cx="497417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prstDash val="lg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5005268A-DE6A-773D-C4FE-59054554EC31}"/>
                  </a:ext>
                </a:extLst>
              </p:cNvPr>
              <p:cNvSpPr txBox="1"/>
              <p:nvPr/>
            </p:nvSpPr>
            <p:spPr>
              <a:xfrm>
                <a:off x="6382710" y="2287564"/>
                <a:ext cx="49741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1100">
                    <a:latin typeface="Arial" panose="020B0604020202020204" pitchFamily="34" charset="0"/>
                    <a:cs typeface="Arial" panose="020B0604020202020204" pitchFamily="34" charset="0"/>
                  </a:rPr>
                  <a:t>12V</a:t>
                </a:r>
              </a:p>
            </p:txBody>
          </p:sp>
        </p:grp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D6160518-3104-685A-AF94-B3714B38C8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l="18941" t="14460" r="18825" b="13375"/>
          <a:stretch>
            <a:fillRect/>
          </a:stretch>
        </p:blipFill>
        <p:spPr>
          <a:xfrm flipH="1">
            <a:off x="4528049" y="2837303"/>
            <a:ext cx="588997" cy="4114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3564E4-2C70-1BBC-7722-D2004AB0D682}"/>
              </a:ext>
            </a:extLst>
          </p:cNvPr>
          <p:cNvCxnSpPr>
            <a:cxnSpLocks/>
            <a:stCxn id="18" idx="0"/>
            <a:endCxn id="14" idx="2"/>
          </p:cNvCxnSpPr>
          <p:nvPr/>
        </p:nvCxnSpPr>
        <p:spPr>
          <a:xfrm flipV="1">
            <a:off x="3686608" y="3281901"/>
            <a:ext cx="0" cy="2358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0AC0CC0-13C8-DA49-42CA-D4DBEC2E2D02}"/>
              </a:ext>
            </a:extLst>
          </p:cNvPr>
          <p:cNvGrpSpPr/>
          <p:nvPr/>
        </p:nvGrpSpPr>
        <p:grpSpPr>
          <a:xfrm>
            <a:off x="246246" y="1595087"/>
            <a:ext cx="6774642" cy="4557043"/>
            <a:chOff x="246246" y="1595087"/>
            <a:chExt cx="6774642" cy="4557043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730AD40F-DC17-88E3-1D0C-47C89F75A14F}"/>
                </a:ext>
              </a:extLst>
            </p:cNvPr>
            <p:cNvCxnSpPr>
              <a:cxnSpLocks/>
              <a:stCxn id="15" idx="1"/>
              <a:endCxn id="18" idx="3"/>
            </p:cNvCxnSpPr>
            <p:nvPr/>
          </p:nvCxnSpPr>
          <p:spPr>
            <a:xfrm flipH="1" flipV="1">
              <a:off x="4520044" y="3764673"/>
              <a:ext cx="610676" cy="13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43FA2768-A3A4-2D2F-75A2-F140A74151CD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3682497" y="2476103"/>
              <a:ext cx="0" cy="322965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3189EF7-7604-BD0A-6F28-C4CFF73C8239}"/>
                </a:ext>
              </a:extLst>
            </p:cNvPr>
            <p:cNvSpPr/>
            <p:nvPr/>
          </p:nvSpPr>
          <p:spPr>
            <a:xfrm>
              <a:off x="2853171" y="3517747"/>
              <a:ext cx="1666873" cy="4938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Motor Encoders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2D3850B2-55FC-2522-48CE-0779201926F6}"/>
                </a:ext>
              </a:extLst>
            </p:cNvPr>
            <p:cNvSpPr/>
            <p:nvPr/>
          </p:nvSpPr>
          <p:spPr>
            <a:xfrm>
              <a:off x="2849060" y="1982252"/>
              <a:ext cx="1666873" cy="493851"/>
            </a:xfrm>
            <a:prstGeom prst="round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Wi-Fi Module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7B406CF-A4FC-647C-0B1E-3D9779893711}"/>
                </a:ext>
              </a:extLst>
            </p:cNvPr>
            <p:cNvSpPr txBox="1"/>
            <p:nvPr/>
          </p:nvSpPr>
          <p:spPr>
            <a:xfrm>
              <a:off x="4515933" y="2833834"/>
              <a:ext cx="54516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496AC54-7946-18CE-EF75-B17F1B9ABC35}"/>
                </a:ext>
              </a:extLst>
            </p:cNvPr>
            <p:cNvSpPr txBox="1"/>
            <p:nvPr/>
          </p:nvSpPr>
          <p:spPr>
            <a:xfrm>
              <a:off x="4545844" y="3044040"/>
              <a:ext cx="48739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Speed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B253D85-2EDB-D3D7-CEC5-20EDFAF20651}"/>
                </a:ext>
              </a:extLst>
            </p:cNvPr>
            <p:cNvSpPr/>
            <p:nvPr/>
          </p:nvSpPr>
          <p:spPr>
            <a:xfrm>
              <a:off x="5130720" y="3519070"/>
              <a:ext cx="1666873" cy="493851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Motor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EF129BB8-B8C7-8B69-E132-DDB8FF93A4DE}"/>
                </a:ext>
              </a:extLst>
            </p:cNvPr>
            <p:cNvSpPr/>
            <p:nvPr/>
          </p:nvSpPr>
          <p:spPr>
            <a:xfrm>
              <a:off x="5121302" y="2786759"/>
              <a:ext cx="1666873" cy="493852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Motor Driver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7882375-83CB-3753-25A3-1F8E8E6463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0044" y="2978266"/>
              <a:ext cx="601258" cy="129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0CB338A-58A1-5FB0-3711-259285D16B9C}"/>
                </a:ext>
              </a:extLst>
            </p:cNvPr>
            <p:cNvCxnSpPr>
              <a:cxnSpLocks/>
              <a:stCxn id="17" idx="2"/>
              <a:endCxn id="15" idx="0"/>
            </p:cNvCxnSpPr>
            <p:nvPr/>
          </p:nvCxnSpPr>
          <p:spPr>
            <a:xfrm>
              <a:off x="5954739" y="3280611"/>
              <a:ext cx="9418" cy="238459"/>
            </a:xfrm>
            <a:prstGeom prst="straightConnector1">
              <a:avLst/>
            </a:prstGeom>
            <a:ln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62276A8-88D2-96F4-1CE3-BBE66CA3B3D3}"/>
                </a:ext>
              </a:extLst>
            </p:cNvPr>
            <p:cNvSpPr txBox="1"/>
            <p:nvPr/>
          </p:nvSpPr>
          <p:spPr>
            <a:xfrm>
              <a:off x="1897676" y="3043845"/>
              <a:ext cx="97777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Proximity Detection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06E53A56-A174-9480-C691-BC3DF113881F}"/>
                </a:ext>
              </a:extLst>
            </p:cNvPr>
            <p:cNvSpPr/>
            <p:nvPr/>
          </p:nvSpPr>
          <p:spPr>
            <a:xfrm>
              <a:off x="249649" y="2232473"/>
              <a:ext cx="1666873" cy="4938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ZED Mini Stereo Camera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3C01A49-A970-2860-4428-D73D44A0B815}"/>
                </a:ext>
              </a:extLst>
            </p:cNvPr>
            <p:cNvSpPr/>
            <p:nvPr/>
          </p:nvSpPr>
          <p:spPr>
            <a:xfrm>
              <a:off x="261420" y="2929054"/>
              <a:ext cx="1666873" cy="4938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LIDAR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A02C618-B664-69DE-A9AC-06BA15939F31}"/>
                </a:ext>
              </a:extLst>
            </p:cNvPr>
            <p:cNvSpPr/>
            <p:nvPr/>
          </p:nvSpPr>
          <p:spPr>
            <a:xfrm>
              <a:off x="257609" y="3709975"/>
              <a:ext cx="1666873" cy="4938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Ultrasonic Sensor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A8C1045-BEC0-BFAA-90C8-2982F17F5F5C}"/>
                </a:ext>
              </a:extLst>
            </p:cNvPr>
            <p:cNvSpPr/>
            <p:nvPr/>
          </p:nvSpPr>
          <p:spPr>
            <a:xfrm>
              <a:off x="2853171" y="2788050"/>
              <a:ext cx="1666873" cy="493851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Jetson Nano</a:t>
              </a:r>
            </a:p>
          </p:txBody>
        </p:sp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C98CC7F6-9A1C-3839-99BE-666D8F4B235B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1916522" y="2479399"/>
              <a:ext cx="936649" cy="516391"/>
            </a:xfrm>
            <a:prstGeom prst="bentConnector3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: Elbow 56">
              <a:extLst>
                <a:ext uri="{FF2B5EF4-FFF2-40B4-BE49-F238E27FC236}">
                  <a16:creationId xmlns:a16="http://schemas.microsoft.com/office/drawing/2014/main" id="{AFB06DC1-0DDC-18B5-07FF-D9E4722BE665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 flipV="1">
              <a:off x="1924482" y="3208319"/>
              <a:ext cx="937336" cy="748582"/>
            </a:xfrm>
            <a:prstGeom prst="bentConnector3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A3A9A3D-CEA4-5EC9-851E-4E6EB3D45384}"/>
                </a:ext>
              </a:extLst>
            </p:cNvPr>
            <p:cNvSpPr txBox="1"/>
            <p:nvPr/>
          </p:nvSpPr>
          <p:spPr>
            <a:xfrm rot="16200000">
              <a:off x="1898435" y="3497361"/>
              <a:ext cx="892239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Cliff Detection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A890FED-9BEC-6413-07ED-149D65ADA0A0}"/>
                </a:ext>
              </a:extLst>
            </p:cNvPr>
            <p:cNvSpPr txBox="1"/>
            <p:nvPr/>
          </p:nvSpPr>
          <p:spPr>
            <a:xfrm>
              <a:off x="1688839" y="2434716"/>
              <a:ext cx="8922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Primary Perception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104CA09-2246-5FA8-08C2-5BB5E2A765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20044" y="3092568"/>
              <a:ext cx="601258" cy="1291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ECF7EFB-0536-5810-D61F-8F5EFB6CE54E}"/>
                </a:ext>
              </a:extLst>
            </p:cNvPr>
            <p:cNvGrpSpPr/>
            <p:nvPr/>
          </p:nvGrpSpPr>
          <p:grpSpPr>
            <a:xfrm>
              <a:off x="1481323" y="5156854"/>
              <a:ext cx="5539565" cy="995276"/>
              <a:chOff x="918385" y="5280592"/>
              <a:chExt cx="5539565" cy="995276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13F2A59B-C41B-8747-3DF6-6C876D385D3B}"/>
                  </a:ext>
                </a:extLst>
              </p:cNvPr>
              <p:cNvSpPr/>
              <p:nvPr/>
            </p:nvSpPr>
            <p:spPr>
              <a:xfrm>
                <a:off x="918385" y="5771178"/>
                <a:ext cx="1666873" cy="493851"/>
              </a:xfrm>
              <a:prstGeom prst="round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600">
                    <a:latin typeface="Arial" panose="020B0604020202020204" pitchFamily="34" charset="0"/>
                    <a:cs typeface="Arial" panose="020B0604020202020204" pitchFamily="34" charset="0"/>
                  </a:rPr>
                  <a:t>Charging Module</a:t>
                </a: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4BCA1CDD-F3F7-EBA5-D539-BED5F0BFBDFE}"/>
                  </a:ext>
                </a:extLst>
              </p:cNvPr>
              <p:cNvSpPr/>
              <p:nvPr/>
            </p:nvSpPr>
            <p:spPr>
              <a:xfrm>
                <a:off x="4791077" y="5782017"/>
                <a:ext cx="1666873" cy="493851"/>
              </a:xfrm>
              <a:prstGeom prst="round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600">
                    <a:latin typeface="Arial" panose="020B0604020202020204" pitchFamily="34" charset="0"/>
                    <a:cs typeface="Arial" panose="020B0604020202020204" pitchFamily="34" charset="0"/>
                  </a:rPr>
                  <a:t>Battery</a:t>
                </a:r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70C60728-D620-4C9A-7C01-87FFCF5F6C6B}"/>
                  </a:ext>
                </a:extLst>
              </p:cNvPr>
              <p:cNvSpPr/>
              <p:nvPr/>
            </p:nvSpPr>
            <p:spPr>
              <a:xfrm>
                <a:off x="2799193" y="5280592"/>
                <a:ext cx="1874671" cy="493851"/>
              </a:xfrm>
              <a:prstGeom prst="round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N" sz="1600">
                    <a:latin typeface="Arial" panose="020B0604020202020204" pitchFamily="34" charset="0"/>
                    <a:cs typeface="Arial" panose="020B0604020202020204" pitchFamily="34" charset="0"/>
                  </a:rPr>
                  <a:t>Power Distribution Board</a:t>
                </a:r>
              </a:p>
            </p:txBody>
          </p:sp>
          <p:cxnSp>
            <p:nvCxnSpPr>
              <p:cNvPr id="103" name="Straight Arrow Connector 102">
                <a:extLst>
                  <a:ext uri="{FF2B5EF4-FFF2-40B4-BE49-F238E27FC236}">
                    <a16:creationId xmlns:a16="http://schemas.microsoft.com/office/drawing/2014/main" id="{6D1FA2FD-3F43-679F-EC57-6260D440F88B}"/>
                  </a:ext>
                </a:extLst>
              </p:cNvPr>
              <p:cNvCxnSpPr>
                <a:stCxn id="20" idx="3"/>
                <a:endCxn id="22" idx="1"/>
              </p:cNvCxnSpPr>
              <p:nvPr/>
            </p:nvCxnSpPr>
            <p:spPr>
              <a:xfrm>
                <a:off x="2585258" y="6018104"/>
                <a:ext cx="2205819" cy="10839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6ABBE626-9E62-BFFB-C6EC-4CC3EEC9682E}"/>
                  </a:ext>
                </a:extLst>
              </p:cNvPr>
              <p:cNvSpPr txBox="1"/>
              <p:nvPr/>
            </p:nvSpPr>
            <p:spPr>
              <a:xfrm>
                <a:off x="3199279" y="5870425"/>
                <a:ext cx="977777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700">
                    <a:latin typeface="Arial" panose="020B0604020202020204" pitchFamily="34" charset="0"/>
                    <a:cs typeface="Arial" panose="020B0604020202020204" pitchFamily="34" charset="0"/>
                  </a:rPr>
                  <a:t>Charging</a:t>
                </a:r>
              </a:p>
            </p:txBody>
          </p:sp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5052F9AD-F6D4-755D-EF49-F5265CE1D80D}"/>
                  </a:ext>
                </a:extLst>
              </p:cNvPr>
              <p:cNvGrpSpPr/>
              <p:nvPr/>
            </p:nvGrpSpPr>
            <p:grpSpPr>
              <a:xfrm>
                <a:off x="4673865" y="5370492"/>
                <a:ext cx="1094989" cy="420856"/>
                <a:chOff x="4673865" y="5211867"/>
                <a:chExt cx="1094989" cy="420856"/>
              </a:xfrm>
            </p:grpSpPr>
            <p:cxnSp>
              <p:nvCxnSpPr>
                <p:cNvPr id="97" name="Connector: Elbow 96">
                  <a:extLst>
                    <a:ext uri="{FF2B5EF4-FFF2-40B4-BE49-F238E27FC236}">
                      <a16:creationId xmlns:a16="http://schemas.microsoft.com/office/drawing/2014/main" id="{342B5881-D78B-6250-D3FE-DF30E324B221}"/>
                    </a:ext>
                  </a:extLst>
                </p:cNvPr>
                <p:cNvCxnSpPr>
                  <a:cxnSpLocks/>
                  <a:stCxn id="22" idx="0"/>
                  <a:endCxn id="37" idx="3"/>
                </p:cNvCxnSpPr>
                <p:nvPr/>
              </p:nvCxnSpPr>
              <p:spPr>
                <a:xfrm rot="16200000" flipV="1">
                  <a:off x="5021940" y="5030149"/>
                  <a:ext cx="254499" cy="950650"/>
                </a:xfrm>
                <a:prstGeom prst="bentConnector2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8934ECA-9E38-F2D7-3415-4943C262B9EA}"/>
                    </a:ext>
                  </a:extLst>
                </p:cNvPr>
                <p:cNvSpPr txBox="1"/>
                <p:nvPr/>
              </p:nvSpPr>
              <p:spPr>
                <a:xfrm>
                  <a:off x="4791077" y="5211867"/>
                  <a:ext cx="977777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Discharge State</a:t>
                  </a:r>
                </a:p>
              </p:txBody>
            </p:sp>
          </p:grp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FA2AEE1B-DE41-5F9A-E12F-14DDE7DE23E0}"/>
                  </a:ext>
                </a:extLst>
              </p:cNvPr>
              <p:cNvGrpSpPr/>
              <p:nvPr/>
            </p:nvGrpSpPr>
            <p:grpSpPr>
              <a:xfrm>
                <a:off x="1751821" y="5376623"/>
                <a:ext cx="1047371" cy="403887"/>
                <a:chOff x="1751821" y="5217998"/>
                <a:chExt cx="1047371" cy="403887"/>
              </a:xfrm>
            </p:grpSpPr>
            <p:cxnSp>
              <p:nvCxnSpPr>
                <p:cNvPr id="104" name="Connector: Elbow 103">
                  <a:extLst>
                    <a:ext uri="{FF2B5EF4-FFF2-40B4-BE49-F238E27FC236}">
                      <a16:creationId xmlns:a16="http://schemas.microsoft.com/office/drawing/2014/main" id="{F559D44F-6DD9-E944-1110-B7DF84C7D318}"/>
                    </a:ext>
                  </a:extLst>
                </p:cNvPr>
                <p:cNvCxnSpPr>
                  <a:cxnSpLocks/>
                  <a:stCxn id="20" idx="0"/>
                  <a:endCxn id="37" idx="1"/>
                </p:cNvCxnSpPr>
                <p:nvPr/>
              </p:nvCxnSpPr>
              <p:spPr>
                <a:xfrm rot="5400000" flipH="1" flipV="1">
                  <a:off x="2153677" y="4976369"/>
                  <a:ext cx="243660" cy="1047371"/>
                </a:xfrm>
                <a:prstGeom prst="bentConnector2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B0A9495C-9CC1-DBD3-FAA7-B9FB051DAA86}"/>
                    </a:ext>
                  </a:extLst>
                </p:cNvPr>
                <p:cNvSpPr txBox="1"/>
                <p:nvPr/>
              </p:nvSpPr>
              <p:spPr>
                <a:xfrm>
                  <a:off x="1754396" y="5217998"/>
                  <a:ext cx="977777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N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Charge State</a:t>
                  </a:r>
                </a:p>
              </p:txBody>
            </p:sp>
          </p:grpSp>
        </p:grpSp>
        <p:cxnSp>
          <p:nvCxnSpPr>
            <p:cNvPr id="114" name="Connector: Elbow 113">
              <a:extLst>
                <a:ext uri="{FF2B5EF4-FFF2-40B4-BE49-F238E27FC236}">
                  <a16:creationId xmlns:a16="http://schemas.microsoft.com/office/drawing/2014/main" id="{7219E4C7-9C54-60F5-54F4-857233902FA1}"/>
                </a:ext>
              </a:extLst>
            </p:cNvPr>
            <p:cNvCxnSpPr>
              <a:cxnSpLocks/>
              <a:stCxn id="37" idx="0"/>
              <a:endCxn id="7" idx="2"/>
            </p:cNvCxnSpPr>
            <p:nvPr/>
          </p:nvCxnSpPr>
          <p:spPr>
            <a:xfrm rot="16200000" flipV="1">
              <a:off x="2218743" y="3076129"/>
              <a:ext cx="953028" cy="3208421"/>
            </a:xfrm>
            <a:prstGeom prst="bentConnector3">
              <a:avLst>
                <a:gd name="adj1" fmla="val 81982"/>
              </a:avLst>
            </a:prstGeom>
            <a:ln>
              <a:solidFill>
                <a:srgbClr val="FF000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nector: Elbow 114">
              <a:extLst>
                <a:ext uri="{FF2B5EF4-FFF2-40B4-BE49-F238E27FC236}">
                  <a16:creationId xmlns:a16="http://schemas.microsoft.com/office/drawing/2014/main" id="{289EE20A-E0BF-5967-145D-AD5A38C524C8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rot="16200000" flipV="1">
              <a:off x="3496003" y="4353390"/>
              <a:ext cx="1145256" cy="461672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or: Elbow 118">
              <a:extLst>
                <a:ext uri="{FF2B5EF4-FFF2-40B4-BE49-F238E27FC236}">
                  <a16:creationId xmlns:a16="http://schemas.microsoft.com/office/drawing/2014/main" id="{85B9EC4F-84DD-A78D-FAE6-026B0B11046E}"/>
                </a:ext>
              </a:extLst>
            </p:cNvPr>
            <p:cNvCxnSpPr>
              <a:cxnSpLocks/>
              <a:stCxn id="45" idx="0"/>
              <a:endCxn id="38" idx="3"/>
            </p:cNvCxnSpPr>
            <p:nvPr/>
          </p:nvCxnSpPr>
          <p:spPr>
            <a:xfrm rot="5400000" flipH="1" flipV="1">
              <a:off x="1555845" y="2523089"/>
              <a:ext cx="1407467" cy="2854043"/>
            </a:xfrm>
            <a:prstGeom prst="bentConnector3">
              <a:avLst>
                <a:gd name="adj1" fmla="val 9870"/>
              </a:avLst>
            </a:prstGeom>
            <a:ln>
              <a:solidFill>
                <a:srgbClr val="FF000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708DC8D9-D108-DA54-AC83-7A9026EB3438}"/>
                </a:ext>
              </a:extLst>
            </p:cNvPr>
            <p:cNvCxnSpPr>
              <a:cxnSpLocks/>
              <a:stCxn id="37" idx="0"/>
              <a:endCxn id="15" idx="2"/>
            </p:cNvCxnSpPr>
            <p:nvPr/>
          </p:nvCxnSpPr>
          <p:spPr>
            <a:xfrm rot="5400000" flipH="1" flipV="1">
              <a:off x="4559846" y="3752543"/>
              <a:ext cx="1143933" cy="1664690"/>
            </a:xfrm>
            <a:prstGeom prst="bentConnector3">
              <a:avLst/>
            </a:prstGeom>
            <a:ln>
              <a:solidFill>
                <a:srgbClr val="00B05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88C4B373-1989-1557-0B08-90F7A4D08D56}"/>
                </a:ext>
              </a:extLst>
            </p:cNvPr>
            <p:cNvCxnSpPr>
              <a:cxnSpLocks/>
              <a:stCxn id="37" idx="0"/>
              <a:endCxn id="17" idx="3"/>
            </p:cNvCxnSpPr>
            <p:nvPr/>
          </p:nvCxnSpPr>
          <p:spPr>
            <a:xfrm rot="5400000" flipH="1" flipV="1">
              <a:off x="4482237" y="2850916"/>
              <a:ext cx="2123169" cy="2488708"/>
            </a:xfrm>
            <a:prstGeom prst="bentConnector4">
              <a:avLst>
                <a:gd name="adj1" fmla="val 27038"/>
                <a:gd name="adj2" fmla="val 109185"/>
              </a:avLst>
            </a:prstGeom>
            <a:ln>
              <a:solidFill>
                <a:srgbClr val="00B05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F0459F0-681E-81A3-D5F2-FA8963FE5E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5000"/>
            </a:blip>
            <a:srcRect l="18941" t="14460" r="18825" b="13375"/>
            <a:stretch>
              <a:fillRect/>
            </a:stretch>
          </p:blipFill>
          <p:spPr>
            <a:xfrm rot="5400000" flipH="1">
              <a:off x="3522947" y="3295718"/>
              <a:ext cx="327307" cy="228623"/>
            </a:xfrm>
            <a:prstGeom prst="rect">
              <a:avLst/>
            </a:prstGeom>
          </p:spPr>
        </p:pic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7A391B9-A025-0AC4-54D2-6EE01A208E88}"/>
                </a:ext>
              </a:extLst>
            </p:cNvPr>
            <p:cNvSpPr/>
            <p:nvPr/>
          </p:nvSpPr>
          <p:spPr>
            <a:xfrm>
              <a:off x="1797620" y="4654464"/>
              <a:ext cx="1172622" cy="493851"/>
            </a:xfrm>
            <a:prstGeom prst="round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600">
                  <a:latin typeface="Arial" panose="020B0604020202020204" pitchFamily="34" charset="0"/>
                  <a:cs typeface="Arial" panose="020B0604020202020204" pitchFamily="34" charset="0"/>
                </a:rPr>
                <a:t>DC to AC Converter</a:t>
              </a:r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EC0757B4-594D-EF11-FAEB-1B07C95482FD}"/>
                </a:ext>
              </a:extLst>
            </p:cNvPr>
            <p:cNvSpPr/>
            <p:nvPr/>
          </p:nvSpPr>
          <p:spPr>
            <a:xfrm>
              <a:off x="246246" y="4653843"/>
              <a:ext cx="1172622" cy="493851"/>
            </a:xfrm>
            <a:prstGeom prst="round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>
                  <a:latin typeface="Arial" panose="020B0604020202020204" pitchFamily="34" charset="0"/>
                  <a:cs typeface="Arial" panose="020B0604020202020204" pitchFamily="34" charset="0"/>
                </a:rPr>
                <a:t>Adapter</a:t>
              </a:r>
              <a:endParaRPr lang="en-IN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DFFD610C-F358-5338-7441-7A4EDA58FA8D}"/>
                </a:ext>
              </a:extLst>
            </p:cNvPr>
            <p:cNvCxnSpPr>
              <a:cxnSpLocks/>
              <a:stCxn id="37" idx="0"/>
              <a:endCxn id="39" idx="3"/>
            </p:cNvCxnSpPr>
            <p:nvPr/>
          </p:nvCxnSpPr>
          <p:spPr>
            <a:xfrm rot="16200000" flipV="1">
              <a:off x="3507123" y="4364509"/>
              <a:ext cx="255464" cy="1329225"/>
            </a:xfrm>
            <a:prstGeom prst="bentConnector2">
              <a:avLst/>
            </a:prstGeom>
            <a:ln>
              <a:solidFill>
                <a:srgbClr val="00B05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971EE572-F05A-9B22-D31D-7F4361EE41E3}"/>
                </a:ext>
              </a:extLst>
            </p:cNvPr>
            <p:cNvCxnSpPr>
              <a:cxnSpLocks/>
              <a:stCxn id="39" idx="1"/>
              <a:endCxn id="45" idx="3"/>
            </p:cNvCxnSpPr>
            <p:nvPr/>
          </p:nvCxnSpPr>
          <p:spPr>
            <a:xfrm rot="10800000">
              <a:off x="1418868" y="4900770"/>
              <a:ext cx="378752" cy="621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: Elbow 62">
              <a:extLst>
                <a:ext uri="{FF2B5EF4-FFF2-40B4-BE49-F238E27FC236}">
                  <a16:creationId xmlns:a16="http://schemas.microsoft.com/office/drawing/2014/main" id="{7733DA98-66D7-B91B-6F49-C215A4F62F9D}"/>
                </a:ext>
              </a:extLst>
            </p:cNvPr>
            <p:cNvCxnSpPr>
              <a:cxnSpLocks/>
            </p:cNvCxnSpPr>
            <p:nvPr/>
          </p:nvCxnSpPr>
          <p:spPr>
            <a:xfrm>
              <a:off x="1769637" y="1852131"/>
              <a:ext cx="1083534" cy="1034449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0C9FC879-3009-3F90-6316-D22DA86611DD}"/>
                </a:ext>
              </a:extLst>
            </p:cNvPr>
            <p:cNvSpPr/>
            <p:nvPr/>
          </p:nvSpPr>
          <p:spPr>
            <a:xfrm>
              <a:off x="249648" y="1595087"/>
              <a:ext cx="1666873" cy="49385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050">
                  <a:latin typeface="Arial" panose="020B0604020202020204" pitchFamily="34" charset="0"/>
                  <a:cs typeface="Arial" panose="020B0604020202020204" pitchFamily="34" charset="0"/>
                </a:rPr>
                <a:t>IMU</a:t>
              </a:r>
              <a:br>
                <a:rPr lang="en-IN" sz="105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IN" sz="1050">
                  <a:latin typeface="Arial" panose="020B0604020202020204" pitchFamily="34" charset="0"/>
                  <a:cs typeface="Arial" panose="020B0604020202020204" pitchFamily="34" charset="0"/>
                </a:rPr>
                <a:t>(Inbuilt with ZED Camera)</a:t>
              </a:r>
            </a:p>
          </p:txBody>
        </p:sp>
        <p:cxnSp>
          <p:nvCxnSpPr>
            <p:cNvPr id="54" name="Connector: Elbow 53">
              <a:extLst>
                <a:ext uri="{FF2B5EF4-FFF2-40B4-BE49-F238E27FC236}">
                  <a16:creationId xmlns:a16="http://schemas.microsoft.com/office/drawing/2014/main" id="{E361FF64-FD7E-096E-41D9-DDF4BA56AC9E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1928293" y="3104643"/>
              <a:ext cx="924878" cy="71337"/>
            </a:xfrm>
            <a:prstGeom prst="bentConnector3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B22987C-0909-D50B-5BBB-11FF9CCD9E88}"/>
                </a:ext>
              </a:extLst>
            </p:cNvPr>
            <p:cNvSpPr txBox="1"/>
            <p:nvPr/>
          </p:nvSpPr>
          <p:spPr>
            <a:xfrm>
              <a:off x="1780301" y="1809657"/>
              <a:ext cx="89223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700">
                  <a:latin typeface="Arial" panose="020B0604020202020204" pitchFamily="34" charset="0"/>
                  <a:cs typeface="Arial" panose="020B0604020202020204" pitchFamily="34" charset="0"/>
                </a:rPr>
                <a:t>Slip Compensation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1516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B6DC-6495-A75C-6D01-E03FB03B1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62350-B107-81D9-2E83-824C7094A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42D73-ABBB-4738-B8CF-04AA246A36FA}" type="datetime1">
              <a:rPr lang="en-US" smtClean="0">
                <a:latin typeface="Arial" panose="020B0604020202020204" pitchFamily="34" charset="0"/>
                <a:cs typeface="Arial" panose="020B0604020202020204" pitchFamily="34" charset="0"/>
              </a:rPr>
              <a:t>1/13/2026</a:t>
            </a:fld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3A1E5F25-3B2A-7A17-2A94-D8F8B774D6B8}"/>
              </a:ext>
            </a:extLst>
          </p:cNvPr>
          <p:cNvSpPr txBox="1">
            <a:spLocks/>
          </p:cNvSpPr>
          <p:nvPr/>
        </p:nvSpPr>
        <p:spPr>
          <a:xfrm>
            <a:off x="2897281" y="634518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Arial Black" panose="020B0A04020102020204" pitchFamily="34" charset="0"/>
              </a:rPr>
              <a:t>21MHP401L/403L - Major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80540C-8B8E-CE8A-A2B4-12A1E8FEA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F0983B-DBAB-5B36-0929-46FDD1C4E22C}"/>
              </a:ext>
            </a:extLst>
          </p:cNvPr>
          <p:cNvSpPr txBox="1"/>
          <p:nvPr/>
        </p:nvSpPr>
        <p:spPr>
          <a:xfrm>
            <a:off x="628650" y="1159206"/>
            <a:ext cx="80954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endParaRPr lang="en-IN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F9734F-BF6D-68DC-4A4B-9B6ADC4D2447}"/>
              </a:ext>
            </a:extLst>
          </p:cNvPr>
          <p:cNvSpPr txBox="1"/>
          <p:nvPr/>
        </p:nvSpPr>
        <p:spPr>
          <a:xfrm>
            <a:off x="859914" y="1867838"/>
            <a:ext cx="7655436" cy="3684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GB" sz="1600">
                <a:latin typeface="Arial" panose="020B0604020202020204" pitchFamily="34" charset="0"/>
                <a:cs typeface="Arial" panose="020B0604020202020204" pitchFamily="34" charset="0"/>
              </a:rPr>
              <a:t>System Architecture and Environment Setup</a:t>
            </a:r>
          </a:p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1600">
                <a:latin typeface="Arial" panose="020B0604020202020204" pitchFamily="34" charset="0"/>
                <a:cs typeface="Arial" panose="020B0604020202020204" pitchFamily="34" charset="0"/>
              </a:rPr>
              <a:t>Structural Modifications and Charging Equipment</a:t>
            </a:r>
          </a:p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1600">
                <a:latin typeface="Arial" panose="020B0604020202020204" pitchFamily="34" charset="0"/>
                <a:cs typeface="Arial" panose="020B0604020202020204" pitchFamily="34" charset="0"/>
              </a:rPr>
              <a:t>Mapping and Localization</a:t>
            </a:r>
          </a:p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1600">
                <a:latin typeface="Arial" panose="020B0604020202020204" pitchFamily="34" charset="0"/>
                <a:cs typeface="Arial" panose="020B0604020202020204" pitchFamily="34" charset="0"/>
              </a:rPr>
              <a:t>Navigation and Task Handling</a:t>
            </a:r>
          </a:p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1600">
                <a:latin typeface="Arial" panose="020B0604020202020204" pitchFamily="34" charset="0"/>
                <a:cs typeface="Arial" panose="020B0604020202020204" pitchFamily="34" charset="0"/>
              </a:rPr>
              <a:t>User Interface Development &amp; Integration</a:t>
            </a:r>
          </a:p>
          <a:p>
            <a:pPr marL="342900" lvl="0" indent="-34290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1600">
                <a:latin typeface="Arial" panose="020B0604020202020204" pitchFamily="34" charset="0"/>
                <a:cs typeface="Arial" panose="020B0604020202020204" pitchFamily="34" charset="0"/>
              </a:rPr>
              <a:t>Testing and Validation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Mobile Robotics Experiments with DaNI">
            <a:extLst>
              <a:ext uri="{FF2B5EF4-FFF2-40B4-BE49-F238E27FC236}">
                <a16:creationId xmlns:a16="http://schemas.microsoft.com/office/drawing/2014/main" id="{3675A8C8-6588-9C5B-C2F3-3EE502CAF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1725" y="1867838"/>
            <a:ext cx="2333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yellow box on a stand next to a computer&#10;&#10;AI-generated content may be incorrect.">
            <a:extLst>
              <a:ext uri="{FF2B5EF4-FFF2-40B4-BE49-F238E27FC236}">
                <a16:creationId xmlns:a16="http://schemas.microsoft.com/office/drawing/2014/main" id="{E571FBEB-5C3E-8ECF-81A5-2673FBB24C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6875" y="3944320"/>
            <a:ext cx="17145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047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DCC814-0E87-4B52-9FAC-8A5A006E6B18}" type="datetime1">
              <a:rPr lang="en-US" smtClean="0">
                <a:latin typeface="Arial Black" panose="020B0A04020102020204" pitchFamily="34" charset="0"/>
              </a:rPr>
              <a:t>1/13/2026</a:t>
            </a:fld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b="1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6</a:t>
            </a:fld>
            <a:endParaRPr lang="en-US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3838" y="963348"/>
            <a:ext cx="8582586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u="sng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Components procured with Price details 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855617"/>
              </p:ext>
            </p:extLst>
          </p:nvPr>
        </p:nvGraphicFramePr>
        <p:xfrm>
          <a:off x="453837" y="1610550"/>
          <a:ext cx="8394330" cy="4536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11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5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2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90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latin typeface="Palatino Linotype" panose="02040502050505030304" pitchFamily="18" charset="0"/>
                        </a:rPr>
                        <a:t>S.No</a:t>
                      </a:r>
                      <a:endParaRPr lang="en-US" sz="1200" b="1" dirty="0">
                        <a:latin typeface="Palatino Linotype" panose="0204050205050503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Palatino Linotype" panose="02040502050505030304" pitchFamily="18" charset="0"/>
                        </a:rPr>
                        <a:t>Component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Palatino Linotype" panose="02040502050505030304" pitchFamily="18" charset="0"/>
                        </a:rPr>
                        <a:t>Specification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Palatino Linotype" panose="02040502050505030304" pitchFamily="18" charset="0"/>
                        </a:rPr>
                        <a:t>Price /piece (INR)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Palatino Linotype" panose="02040502050505030304" pitchFamily="18" charset="0"/>
                        </a:rPr>
                        <a:t>Quantity</a:t>
                      </a:r>
                      <a:r>
                        <a:rPr lang="en-US" sz="1200" b="1" baseline="0" dirty="0">
                          <a:latin typeface="Palatino Linotype" panose="02040502050505030304" pitchFamily="18" charset="0"/>
                        </a:rPr>
                        <a:t> required</a:t>
                      </a:r>
                      <a:endParaRPr lang="en-US" sz="1200" b="1" dirty="0">
                        <a:latin typeface="Palatino Linotype" panose="0204050205050503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Palatino Linotype" panose="02040502050505030304" pitchFamily="18" charset="0"/>
                        </a:rPr>
                        <a:t>Total Cost (INR)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Tanna </a:t>
                      </a:r>
                      <a:r>
                        <a:rPr lang="en-US" sz="1200" dirty="0" err="1">
                          <a:latin typeface="Palatino Linotype" panose="02040502050505030304" pitchFamily="18" charset="0"/>
                        </a:rPr>
                        <a:t>Techbizz</a:t>
                      </a:r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 Eagle 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4GB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Ultrasonic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HC-SR04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Single-Point 2d LIDAR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Palatino Linotype" panose="02040502050505030304" pitchFamily="18" charset="0"/>
                        </a:rPr>
                        <a:t>Tfmini</a:t>
                      </a:r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-Plus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Palatino Linotype" panose="02040502050505030304" pitchFamily="18" charset="0"/>
                        </a:rPr>
                        <a:t>LiPO</a:t>
                      </a:r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10000mah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5,115.30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Zed 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DC to AC Inverter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Palatino Linotype" panose="02040502050505030304" pitchFamily="18" charset="0"/>
                        </a:rPr>
                        <a:t>Optoisolator</a:t>
                      </a:r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5V – 4 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67.7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Logic Level Shifter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 8 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Electrical Connectors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Carbon Fiber Tubes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Palatino Linotype" panose="02040502050505030304" pitchFamily="18" charset="0"/>
                        </a:rPr>
                        <a:t>3D Printing Filament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Palatino Linotype" panose="0204050205050503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CA054AA-78DF-B9E8-A1B4-6322C04CD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21MHP401L/403L - Major Project</a:t>
            </a:r>
          </a:p>
        </p:txBody>
      </p:sp>
    </p:spTree>
    <p:extLst>
      <p:ext uri="{BB962C8B-B14F-4D97-AF65-F5344CB8AC3E}">
        <p14:creationId xmlns:p14="http://schemas.microsoft.com/office/powerpoint/2010/main" val="10441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5518D-18B7-3474-D6DD-129774299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41120"/>
            <a:ext cx="7886700" cy="4835843"/>
          </a:xfrm>
        </p:spPr>
        <p:txBody>
          <a:bodyPr/>
          <a:lstStyle/>
          <a:p>
            <a:pPr marL="0" indent="0">
              <a:buNone/>
            </a:pPr>
            <a:r>
              <a:rPr lang="en-US" u="sng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Progress after zeroth review</a:t>
            </a:r>
            <a:endParaRPr lang="en-US" sz="2800" u="sng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FB2FE-AEB8-9134-1D3E-8FCB45883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8DC9A-ED7C-4572-B512-0DF537EDF118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E9653-CC78-B981-8125-A88AA891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7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6665165-D0AE-E9E2-3804-23C748206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21MHP401L/403L - Major Project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9EE62EB-44D9-CB2C-7CED-1B3F4876A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184030"/>
              </p:ext>
            </p:extLst>
          </p:nvPr>
        </p:nvGraphicFramePr>
        <p:xfrm>
          <a:off x="628650" y="2143448"/>
          <a:ext cx="6061400" cy="319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700">
                  <a:extLst>
                    <a:ext uri="{9D8B030D-6E8A-4147-A177-3AD203B41FA5}">
                      <a16:colId xmlns:a16="http://schemas.microsoft.com/office/drawing/2014/main" val="916169825"/>
                    </a:ext>
                  </a:extLst>
                </a:gridCol>
                <a:gridCol w="3030700">
                  <a:extLst>
                    <a:ext uri="{9D8B030D-6E8A-4147-A177-3AD203B41FA5}">
                      <a16:colId xmlns:a16="http://schemas.microsoft.com/office/drawing/2014/main" val="797345407"/>
                    </a:ext>
                  </a:extLst>
                </a:gridCol>
              </a:tblGrid>
              <a:tr h="758760">
                <a:tc>
                  <a:txBody>
                    <a:bodyPr/>
                    <a:lstStyle/>
                    <a:p>
                      <a:r>
                        <a:rPr lang="en-GB" dirty="0"/>
                        <a:t>Member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Tasks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5641406"/>
                  </a:ext>
                </a:extLst>
              </a:tr>
              <a:tr h="758760">
                <a:tc>
                  <a:txBody>
                    <a:bodyPr/>
                    <a:lstStyle/>
                    <a:p>
                      <a:r>
                        <a:rPr lang="en-GB" dirty="0"/>
                        <a:t>Lalithesh 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Map Creation, Map Splitting, Map Switching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411021"/>
                  </a:ext>
                </a:extLst>
              </a:tr>
              <a:tr h="758760">
                <a:tc>
                  <a:txBody>
                    <a:bodyPr/>
                    <a:lstStyle/>
                    <a:p>
                      <a:r>
                        <a:rPr lang="en-GB" dirty="0"/>
                        <a:t>Tejas M 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Aruco</a:t>
                      </a:r>
                      <a:r>
                        <a:rPr lang="en-GB" dirty="0"/>
                        <a:t> Localisation, </a:t>
                      </a:r>
                      <a:r>
                        <a:rPr lang="en-GB" dirty="0" err="1"/>
                        <a:t>Aruco</a:t>
                      </a:r>
                      <a:r>
                        <a:rPr lang="en-GB" dirty="0"/>
                        <a:t> Evaluation, PCB Layout, Jetson Setup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014213"/>
                  </a:ext>
                </a:extLst>
              </a:tr>
              <a:tr h="758760">
                <a:tc>
                  <a:txBody>
                    <a:bodyPr/>
                    <a:lstStyle/>
                    <a:p>
                      <a:r>
                        <a:rPr lang="en-GB" dirty="0"/>
                        <a:t>Preetham 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CAD, Fabrication, Circuit Schematic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234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6669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E31B-7981-4A8A-818A-88724BD27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658" y="681037"/>
            <a:ext cx="7886700" cy="1325563"/>
          </a:xfrm>
        </p:spPr>
        <p:txBody>
          <a:bodyPr>
            <a:normAutofit/>
          </a:bodyPr>
          <a:lstStyle/>
          <a:p>
            <a:r>
              <a:rPr lang="en-US" sz="2400" u="sng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Work split up among the members (in accordance with the work progress after the zeroth review)</a:t>
            </a:r>
            <a:endParaRPr lang="en-IN" sz="2400" u="sng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89F5E-B2DB-4F04-AD84-DAE5281D7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29B40B-16E9-45D7-A42A-E4895E865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312D3-1830-483B-B03D-A6732834DD6F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47D63-01EB-4DB0-9486-2644FC87A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557AEF-AC6C-4214-B74D-B2FEE02C89EB}" type="slidenum">
              <a:rPr lang="en-US" smtClean="0"/>
              <a:t>8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F1840BF-2CD0-F32A-15BE-DD9EE1B18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21MHP401L/403L - Major Project</a:t>
            </a:r>
          </a:p>
        </p:txBody>
      </p:sp>
    </p:spTree>
    <p:extLst>
      <p:ext uri="{BB962C8B-B14F-4D97-AF65-F5344CB8AC3E}">
        <p14:creationId xmlns:p14="http://schemas.microsoft.com/office/powerpoint/2010/main" val="211181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453838" y="1608806"/>
            <a:ext cx="8582586" cy="204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9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24964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265</TotalTime>
  <Words>581</Words>
  <Application>Microsoft Office PowerPoint</Application>
  <PresentationFormat>On-screen Show (4:3)</PresentationFormat>
  <Paragraphs>162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Calibri Light</vt:lpstr>
      <vt:lpstr>Palatino Linotype</vt:lpstr>
      <vt:lpstr>Times New Roman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Work split up among the members (in accordance with the work progress after the zeroth review)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GANGA</dc:creator>
  <cp:lastModifiedBy>TEJAS M K (RA2211038010012)</cp:lastModifiedBy>
  <cp:revision>47</cp:revision>
  <dcterms:created xsi:type="dcterms:W3CDTF">2018-08-13T09:05:25Z</dcterms:created>
  <dcterms:modified xsi:type="dcterms:W3CDTF">2026-01-13T12:56:02Z</dcterms:modified>
</cp:coreProperties>
</file>